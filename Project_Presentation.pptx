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3"/>
  </p:notesMasterIdLst>
  <p:sldIdLst>
    <p:sldId id="256" r:id="rId2"/>
    <p:sldId id="329" r:id="rId3"/>
    <p:sldId id="331" r:id="rId4"/>
    <p:sldId id="332" r:id="rId5"/>
    <p:sldId id="338" r:id="rId6"/>
    <p:sldId id="333" r:id="rId7"/>
    <p:sldId id="334" r:id="rId8"/>
    <p:sldId id="336" r:id="rId9"/>
    <p:sldId id="337" r:id="rId10"/>
    <p:sldId id="335" r:id="rId11"/>
    <p:sldId id="259" r:id="rId12"/>
  </p:sldIdLst>
  <p:sldSz cx="9144000" cy="5143500" type="screen16x9"/>
  <p:notesSz cx="6858000" cy="9144000"/>
  <p:embeddedFontLst>
    <p:embeddedFont>
      <p:font typeface="Assistant" pitchFamily="2" charset="-79"/>
      <p:regular r:id="rId14"/>
      <p:bold r:id="rId15"/>
    </p:embeddedFont>
    <p:embeddedFont>
      <p:font typeface="DM Serif Display" pitchFamily="2" charset="0"/>
      <p:regular r:id="rId16"/>
      <p:italic r:id="rId17"/>
    </p:embeddedFont>
    <p:embeddedFont>
      <p:font typeface="El Messiri" panose="020B0604020202020204" charset="-78"/>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F62069-7251-453C-B578-0B4AB8CA116B}">
  <a:tblStyle styleId="{D7F62069-7251-453C-B578-0B4AB8CA116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4668"/>
  </p:normalViewPr>
  <p:slideViewPr>
    <p:cSldViewPr snapToGrid="0" showGuides="1">
      <p:cViewPr>
        <p:scale>
          <a:sx n="75" d="100"/>
          <a:sy n="75" d="100"/>
        </p:scale>
        <p:origin x="852" y="13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60" name="Google Shape;16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A034781F-9D89-0483-4FB3-D42BCD05CE82}"/>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4A30493E-A728-02CA-7763-46537EA05D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69" name="Google Shape;569;g54dda1946d_4_2679:notes">
            <a:extLst>
              <a:ext uri="{FF2B5EF4-FFF2-40B4-BE49-F238E27FC236}">
                <a16:creationId xmlns:a16="http://schemas.microsoft.com/office/drawing/2014/main" id="{67C629B0-2C77-148A-641B-7A48E942EC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2584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7619DF00-AFC0-E28B-365A-A8E67FFF08C7}"/>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5A6C291D-1336-29AE-C826-8D547B1222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F1BDD3EF-3124-C132-1848-E56E30625C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918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2F7C3538-434C-166C-34F4-8783255E3B8F}"/>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8A9B1F1B-E126-EC6C-8348-B5419F6B2A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5A401122-9061-D5C3-80D4-052CA64A49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100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8B6FF6F7-46CC-1889-D277-5CD812E38FDF}"/>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F11C7215-A2D6-12F8-1DDE-D345DBE4C2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1461CC77-8FEB-DF2C-F1A2-D7E2B790E7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9164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DF1B0F9F-8CE5-932A-34CB-DDE4FEA66A48}"/>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CD27501A-8EAC-B4C9-2ED0-F71BF50761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DB04B1B0-F7FB-A373-99B3-0AF04A4F8C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4359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1A5DCA01-9717-5C34-974A-89AE8B4DF7C8}"/>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6D81A649-65C0-ADEB-CCAF-023C3FC38E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EC4CD5CF-E5F5-A91D-8101-E6696E633D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8462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6A3BEC3F-B637-4F01-32A4-515010E9273B}"/>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91BA6EFB-88B9-A6D5-015B-6F064DD6D1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2D86269C-B5B4-9860-EFDE-D0B5BD84EA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193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A70A9D0D-0252-43E1-D231-B774E9DA4036}"/>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9CC67399-F269-17B3-63B4-8F70C8C553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E0FDB68D-B396-B5DF-850E-CF663E38F3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7269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a:extLst>
            <a:ext uri="{FF2B5EF4-FFF2-40B4-BE49-F238E27FC236}">
              <a16:creationId xmlns:a16="http://schemas.microsoft.com/office/drawing/2014/main" id="{6A9AA3B8-6D6A-7A09-74F3-8988326F31E4}"/>
            </a:ext>
          </a:extLst>
        </p:cNvPr>
        <p:cNvGrpSpPr/>
        <p:nvPr/>
      </p:nvGrpSpPr>
      <p:grpSpPr>
        <a:xfrm>
          <a:off x="0" y="0"/>
          <a:ext cx="0" cy="0"/>
          <a:chOff x="0" y="0"/>
          <a:chExt cx="0" cy="0"/>
        </a:xfrm>
      </p:grpSpPr>
      <p:sp>
        <p:nvSpPr>
          <p:cNvPr id="568" name="Google Shape;568;g54dda1946d_4_2679:notes">
            <a:extLst>
              <a:ext uri="{FF2B5EF4-FFF2-40B4-BE49-F238E27FC236}">
                <a16:creationId xmlns:a16="http://schemas.microsoft.com/office/drawing/2014/main" id="{7DF27CDC-68B1-D91C-1C76-E79E28782B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54dda1946d_4_2679:notes">
            <a:extLst>
              <a:ext uri="{FF2B5EF4-FFF2-40B4-BE49-F238E27FC236}">
                <a16:creationId xmlns:a16="http://schemas.microsoft.com/office/drawing/2014/main" id="{CA0EB843-E2C3-7031-4B38-2CC42082C4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3827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14" name="Google Shape;21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title="Habibi Backg_1@150x.png"/>
          <p:cNvPicPr preferRelativeResize="0"/>
          <p:nvPr/>
        </p:nvPicPr>
        <p:blipFill>
          <a:blip r:embed="rId2">
            <a:alphaModFix amt="40000"/>
          </a:blip>
          <a:stretch>
            <a:fillRect/>
          </a:stretch>
        </p:blipFill>
        <p:spPr>
          <a:xfrm>
            <a:off x="0" y="0"/>
            <a:ext cx="9144003" cy="5143501"/>
          </a:xfrm>
          <a:prstGeom prst="rect">
            <a:avLst/>
          </a:prstGeom>
          <a:noFill/>
          <a:ln>
            <a:noFill/>
          </a:ln>
        </p:spPr>
      </p:pic>
      <p:sp>
        <p:nvSpPr>
          <p:cNvPr id="10" name="Google Shape;10;p2"/>
          <p:cNvSpPr/>
          <p:nvPr/>
        </p:nvSpPr>
        <p:spPr>
          <a:xfrm>
            <a:off x="-249725" y="249900"/>
            <a:ext cx="9144000" cy="4643700"/>
          </a:xfrm>
          <a:prstGeom prst="roundRect">
            <a:avLst>
              <a:gd name="adj" fmla="val 1948"/>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1" name="Google Shape;11;p2"/>
          <p:cNvSpPr txBox="1">
            <a:spLocks noGrp="1"/>
          </p:cNvSpPr>
          <p:nvPr>
            <p:ph type="ctrTitle"/>
          </p:nvPr>
        </p:nvSpPr>
        <p:spPr>
          <a:xfrm>
            <a:off x="3957350" y="1680775"/>
            <a:ext cx="4473000" cy="1407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100" b="1">
                <a:latin typeface="El Messiri"/>
                <a:ea typeface="El Messiri"/>
                <a:cs typeface="El Messiri"/>
                <a:sym typeface="El Messiri"/>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4003700" y="3205225"/>
            <a:ext cx="4473000" cy="417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latin typeface="Assistant"/>
                <a:ea typeface="Assistant"/>
                <a:cs typeface="Assistant"/>
                <a:sym typeface="Assistan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title="Habibi Backg_1@150x.png"/>
          <p:cNvPicPr preferRelativeResize="0"/>
          <p:nvPr/>
        </p:nvPicPr>
        <p:blipFill>
          <a:blip r:embed="rId2">
            <a:alphaModFix amt="40000"/>
          </a:blip>
          <a:stretch>
            <a:fillRect/>
          </a:stretch>
        </p:blipFill>
        <p:spPr>
          <a:xfrm>
            <a:off x="0" y="0"/>
            <a:ext cx="9144003" cy="5143501"/>
          </a:xfrm>
          <a:prstGeom prst="rect">
            <a:avLst/>
          </a:prstGeom>
          <a:noFill/>
          <a:ln>
            <a:noFill/>
          </a:ln>
        </p:spPr>
      </p:pic>
      <p:sp>
        <p:nvSpPr>
          <p:cNvPr id="15" name="Google Shape;15;p3"/>
          <p:cNvSpPr/>
          <p:nvPr/>
        </p:nvSpPr>
        <p:spPr>
          <a:xfrm>
            <a:off x="249600" y="249900"/>
            <a:ext cx="9144000" cy="4643700"/>
          </a:xfrm>
          <a:prstGeom prst="roundRect">
            <a:avLst>
              <a:gd name="adj" fmla="val 1948"/>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
        <p:nvSpPr>
          <p:cNvPr id="16" name="Google Shape;16;p3"/>
          <p:cNvSpPr txBox="1">
            <a:spLocks noGrp="1"/>
          </p:cNvSpPr>
          <p:nvPr>
            <p:ph type="title"/>
          </p:nvPr>
        </p:nvSpPr>
        <p:spPr>
          <a:xfrm>
            <a:off x="713225" y="2476587"/>
            <a:ext cx="3772800" cy="12183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926925" y="1206513"/>
            <a:ext cx="1060200" cy="915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5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713225" y="3845662"/>
            <a:ext cx="37728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pic>
        <p:nvPicPr>
          <p:cNvPr id="25" name="Google Shape;25;p5" title="Habibi Backg_1@150x.png"/>
          <p:cNvPicPr preferRelativeResize="0"/>
          <p:nvPr/>
        </p:nvPicPr>
        <p:blipFill>
          <a:blip r:embed="rId2">
            <a:alphaModFix amt="40000"/>
          </a:blip>
          <a:stretch>
            <a:fillRect/>
          </a:stretch>
        </p:blipFill>
        <p:spPr>
          <a:xfrm>
            <a:off x="0" y="0"/>
            <a:ext cx="9144003" cy="5143501"/>
          </a:xfrm>
          <a:prstGeom prst="rect">
            <a:avLst/>
          </a:prstGeom>
          <a:noFill/>
          <a:ln>
            <a:noFill/>
          </a:ln>
        </p:spPr>
      </p:pic>
      <p:sp>
        <p:nvSpPr>
          <p:cNvPr id="26" name="Google Shape;26;p5"/>
          <p:cNvSpPr/>
          <p:nvPr/>
        </p:nvSpPr>
        <p:spPr>
          <a:xfrm>
            <a:off x="249600" y="249900"/>
            <a:ext cx="8644800" cy="4643700"/>
          </a:xfrm>
          <a:prstGeom prst="roundRect">
            <a:avLst>
              <a:gd name="adj" fmla="val 1948"/>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ssistant"/>
                <a:ea typeface="Assistant"/>
                <a:cs typeface="Assistant"/>
                <a:sym typeface="Assistant"/>
              </a:rPr>
              <a:t>   </a:t>
            </a:r>
            <a:endParaRPr>
              <a:latin typeface="Assistant"/>
              <a:ea typeface="Assistant"/>
              <a:cs typeface="Assistant"/>
              <a:sym typeface="Assistant"/>
            </a:endParaRPr>
          </a:p>
        </p:txBody>
      </p:sp>
      <p:sp>
        <p:nvSpPr>
          <p:cNvPr id="27" name="Google Shape;27;p5"/>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 name="Google Shape;28;p5"/>
          <p:cNvSpPr txBox="1">
            <a:spLocks noGrp="1"/>
          </p:cNvSpPr>
          <p:nvPr>
            <p:ph type="subTitle" idx="1"/>
          </p:nvPr>
        </p:nvSpPr>
        <p:spPr>
          <a:xfrm>
            <a:off x="5055284"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9" name="Google Shape;29;p5"/>
          <p:cNvSpPr txBox="1">
            <a:spLocks noGrp="1"/>
          </p:cNvSpPr>
          <p:nvPr>
            <p:ph type="subTitle" idx="2"/>
          </p:nvPr>
        </p:nvSpPr>
        <p:spPr>
          <a:xfrm>
            <a:off x="1583300"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0" name="Google Shape;30;p5"/>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l Messiri"/>
              <a:buNone/>
              <a:defRPr sz="2400" b="1">
                <a:solidFill>
                  <a:schemeClr val="dk1"/>
                </a:solidFill>
                <a:latin typeface="El Messiri"/>
                <a:ea typeface="El Messiri"/>
                <a:cs typeface="El Messiri"/>
                <a:sym typeface="El Messiri"/>
              </a:defRPr>
            </a:lvl1pPr>
            <a:lvl2pPr lvl="1"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2pPr>
            <a:lvl3pPr lvl="2"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3pPr>
            <a:lvl4pPr lvl="3"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4pPr>
            <a:lvl5pPr lvl="4"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5pPr>
            <a:lvl6pPr lvl="5"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6pPr>
            <a:lvl7pPr lvl="6"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7pPr>
            <a:lvl8pPr lvl="7"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8pPr>
            <a:lvl9pPr lvl="8"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9pPr>
          </a:lstStyle>
          <a:p>
            <a:endParaRPr/>
          </a:p>
        </p:txBody>
      </p:sp>
      <p:sp>
        <p:nvSpPr>
          <p:cNvPr id="31" name="Google Shape;31;p5"/>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El Messiri"/>
              <a:buNone/>
              <a:defRPr sz="2400" b="1">
                <a:solidFill>
                  <a:schemeClr val="dk1"/>
                </a:solidFill>
                <a:latin typeface="El Messiri"/>
                <a:ea typeface="El Messiri"/>
                <a:cs typeface="El Messiri"/>
                <a:sym typeface="El Messiri"/>
              </a:defRPr>
            </a:lvl1pPr>
            <a:lvl2pPr lvl="1"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2pPr>
            <a:lvl3pPr lvl="2"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3pPr>
            <a:lvl4pPr lvl="3"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4pPr>
            <a:lvl5pPr lvl="4"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5pPr>
            <a:lvl6pPr lvl="5"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6pPr>
            <a:lvl7pPr lvl="6"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7pPr>
            <a:lvl8pPr lvl="7"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8pPr>
            <a:lvl9pPr lvl="8" algn="ctr" rtl="0">
              <a:lnSpc>
                <a:spcPct val="100000"/>
              </a:lnSpc>
              <a:spcBef>
                <a:spcPts val="0"/>
              </a:spcBef>
              <a:spcAft>
                <a:spcPts val="0"/>
              </a:spcAft>
              <a:buSzPts val="2400"/>
              <a:buFont typeface="El Messiri"/>
              <a:buNone/>
              <a:defRPr sz="2400" b="1">
                <a:latin typeface="El Messiri"/>
                <a:ea typeface="El Messiri"/>
                <a:cs typeface="El Messiri"/>
                <a:sym typeface="El Messi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pic>
        <p:nvPicPr>
          <p:cNvPr id="33" name="Google Shape;33;p6" title="Habibi Backg_1@150x.png"/>
          <p:cNvPicPr preferRelativeResize="0"/>
          <p:nvPr/>
        </p:nvPicPr>
        <p:blipFill>
          <a:blip r:embed="rId2">
            <a:alphaModFix amt="40000"/>
          </a:blip>
          <a:stretch>
            <a:fillRect/>
          </a:stretch>
        </p:blipFill>
        <p:spPr>
          <a:xfrm>
            <a:off x="0" y="0"/>
            <a:ext cx="9144003" cy="5143501"/>
          </a:xfrm>
          <a:prstGeom prst="rect">
            <a:avLst/>
          </a:prstGeom>
          <a:noFill/>
          <a:ln>
            <a:noFill/>
          </a:ln>
        </p:spPr>
      </p:pic>
      <p:sp>
        <p:nvSpPr>
          <p:cNvPr id="34" name="Google Shape;34;p6"/>
          <p:cNvSpPr/>
          <p:nvPr/>
        </p:nvSpPr>
        <p:spPr>
          <a:xfrm>
            <a:off x="249600" y="249900"/>
            <a:ext cx="8644800" cy="4643700"/>
          </a:xfrm>
          <a:prstGeom prst="roundRect">
            <a:avLst>
              <a:gd name="adj" fmla="val 1948"/>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ssistant"/>
                <a:ea typeface="Assistant"/>
                <a:cs typeface="Assistant"/>
                <a:sym typeface="Assistant"/>
              </a:rPr>
              <a:t>   </a:t>
            </a:r>
            <a:endParaRPr>
              <a:latin typeface="Assistant"/>
              <a:ea typeface="Assistant"/>
              <a:cs typeface="Assistant"/>
              <a:sym typeface="Assistant"/>
            </a:endParaRPr>
          </a:p>
        </p:txBody>
      </p:sp>
      <p:sp>
        <p:nvSpPr>
          <p:cNvPr id="35" name="Google Shape;35;p6"/>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pic>
        <p:nvPicPr>
          <p:cNvPr id="47" name="Google Shape;47;p9" title="Habibi Backg_1@150x.png"/>
          <p:cNvPicPr preferRelativeResize="0"/>
          <p:nvPr/>
        </p:nvPicPr>
        <p:blipFill>
          <a:blip r:embed="rId2">
            <a:alphaModFix amt="40000"/>
          </a:blip>
          <a:stretch>
            <a:fillRect/>
          </a:stretch>
        </p:blipFill>
        <p:spPr>
          <a:xfrm>
            <a:off x="0" y="0"/>
            <a:ext cx="9144003" cy="5143501"/>
          </a:xfrm>
          <a:prstGeom prst="rect">
            <a:avLst/>
          </a:prstGeom>
          <a:noFill/>
          <a:ln>
            <a:noFill/>
          </a:ln>
        </p:spPr>
      </p:pic>
      <p:sp>
        <p:nvSpPr>
          <p:cNvPr id="48" name="Google Shape;48;p9"/>
          <p:cNvSpPr/>
          <p:nvPr/>
        </p:nvSpPr>
        <p:spPr>
          <a:xfrm>
            <a:off x="249600" y="249900"/>
            <a:ext cx="8644800" cy="4643700"/>
          </a:xfrm>
          <a:prstGeom prst="roundRect">
            <a:avLst>
              <a:gd name="adj" fmla="val 1948"/>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ssistant"/>
                <a:ea typeface="Assistant"/>
                <a:cs typeface="Assistant"/>
                <a:sym typeface="Assistant"/>
              </a:rPr>
              <a:t>   </a:t>
            </a:r>
            <a:endParaRPr>
              <a:latin typeface="Assistant"/>
              <a:ea typeface="Assistant"/>
              <a:cs typeface="Assistant"/>
              <a:sym typeface="Assistant"/>
            </a:endParaRPr>
          </a:p>
        </p:txBody>
      </p:sp>
      <p:sp>
        <p:nvSpPr>
          <p:cNvPr id="49" name="Google Shape;49;p9"/>
          <p:cNvSpPr txBox="1">
            <a:spLocks noGrp="1"/>
          </p:cNvSpPr>
          <p:nvPr>
            <p:ph type="title"/>
          </p:nvPr>
        </p:nvSpPr>
        <p:spPr>
          <a:xfrm>
            <a:off x="2135550" y="1655488"/>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0" name="Google Shape;50;p9"/>
          <p:cNvSpPr txBox="1">
            <a:spLocks noGrp="1"/>
          </p:cNvSpPr>
          <p:nvPr>
            <p:ph type="subTitle" idx="1"/>
          </p:nvPr>
        </p:nvSpPr>
        <p:spPr>
          <a:xfrm>
            <a:off x="2135550" y="2816913"/>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4"/>
        <p:cNvGrpSpPr/>
        <p:nvPr/>
      </p:nvGrpSpPr>
      <p:grpSpPr>
        <a:xfrm>
          <a:off x="0" y="0"/>
          <a:ext cx="0" cy="0"/>
          <a:chOff x="0" y="0"/>
          <a:chExt cx="0" cy="0"/>
        </a:xfrm>
      </p:grpSpPr>
      <p:pic>
        <p:nvPicPr>
          <p:cNvPr id="135" name="Google Shape;135;p21" title="Habibi Backg_1@150x.png"/>
          <p:cNvPicPr preferRelativeResize="0"/>
          <p:nvPr/>
        </p:nvPicPr>
        <p:blipFill>
          <a:blip r:embed="rId2">
            <a:alphaModFix amt="40000"/>
          </a:blip>
          <a:stretch>
            <a:fillRect/>
          </a:stretch>
        </p:blipFill>
        <p:spPr>
          <a:xfrm>
            <a:off x="0" y="0"/>
            <a:ext cx="9144003" cy="5143501"/>
          </a:xfrm>
          <a:prstGeom prst="rect">
            <a:avLst/>
          </a:prstGeom>
          <a:noFill/>
          <a:ln>
            <a:noFill/>
          </a:ln>
        </p:spPr>
      </p:pic>
      <p:sp>
        <p:nvSpPr>
          <p:cNvPr id="136" name="Google Shape;136;p21"/>
          <p:cNvSpPr/>
          <p:nvPr/>
        </p:nvSpPr>
        <p:spPr>
          <a:xfrm>
            <a:off x="249600" y="249900"/>
            <a:ext cx="8644800" cy="4643700"/>
          </a:xfrm>
          <a:prstGeom prst="roundRect">
            <a:avLst>
              <a:gd name="adj" fmla="val 1948"/>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ssistant"/>
                <a:ea typeface="Assistant"/>
                <a:cs typeface="Assistant"/>
                <a:sym typeface="Assistant"/>
              </a:rPr>
              <a:t>   </a:t>
            </a:r>
            <a:endParaRPr>
              <a:latin typeface="Assistant"/>
              <a:ea typeface="Assistant"/>
              <a:cs typeface="Assistant"/>
              <a:sym typeface="Assistant"/>
            </a:endParaRPr>
          </a:p>
        </p:txBody>
      </p:sp>
      <p:grpSp>
        <p:nvGrpSpPr>
          <p:cNvPr id="137" name="Google Shape;137;p21"/>
          <p:cNvGrpSpPr/>
          <p:nvPr/>
        </p:nvGrpSpPr>
        <p:grpSpPr>
          <a:xfrm>
            <a:off x="5874049" y="-580505"/>
            <a:ext cx="3974151" cy="6545479"/>
            <a:chOff x="5874049" y="-580505"/>
            <a:chExt cx="3974151" cy="6545479"/>
          </a:xfrm>
        </p:grpSpPr>
        <p:pic>
          <p:nvPicPr>
            <p:cNvPr id="138" name="Google Shape;138;p21" title="Ara 8@150x.png"/>
            <p:cNvPicPr preferRelativeResize="0"/>
            <p:nvPr/>
          </p:nvPicPr>
          <p:blipFill>
            <a:blip r:embed="rId3">
              <a:alphaModFix/>
            </a:blip>
            <a:stretch>
              <a:fillRect/>
            </a:stretch>
          </p:blipFill>
          <p:spPr>
            <a:xfrm>
              <a:off x="7156924" y="3273704"/>
              <a:ext cx="1408400" cy="1408379"/>
            </a:xfrm>
            <a:prstGeom prst="rect">
              <a:avLst/>
            </a:prstGeom>
            <a:noFill/>
            <a:ln>
              <a:noFill/>
            </a:ln>
          </p:spPr>
        </p:pic>
        <p:pic>
          <p:nvPicPr>
            <p:cNvPr id="139" name="Google Shape;139;p21" title="Ara 3@150x.png"/>
            <p:cNvPicPr preferRelativeResize="0"/>
            <p:nvPr/>
          </p:nvPicPr>
          <p:blipFill>
            <a:blip r:embed="rId4">
              <a:alphaModFix/>
            </a:blip>
            <a:stretch>
              <a:fillRect/>
            </a:stretch>
          </p:blipFill>
          <p:spPr>
            <a:xfrm>
              <a:off x="8439800" y="4556575"/>
              <a:ext cx="1408400" cy="1408400"/>
            </a:xfrm>
            <a:prstGeom prst="rect">
              <a:avLst/>
            </a:prstGeom>
            <a:noFill/>
            <a:ln>
              <a:noFill/>
            </a:ln>
          </p:spPr>
        </p:pic>
        <p:pic>
          <p:nvPicPr>
            <p:cNvPr id="140" name="Google Shape;140;p21" title="Ara 6@150x.png"/>
            <p:cNvPicPr preferRelativeResize="0"/>
            <p:nvPr/>
          </p:nvPicPr>
          <p:blipFill>
            <a:blip r:embed="rId5">
              <a:alphaModFix/>
            </a:blip>
            <a:stretch>
              <a:fillRect/>
            </a:stretch>
          </p:blipFill>
          <p:spPr>
            <a:xfrm>
              <a:off x="5874049" y="1990813"/>
              <a:ext cx="1408400" cy="1408400"/>
            </a:xfrm>
            <a:prstGeom prst="rect">
              <a:avLst/>
            </a:prstGeom>
            <a:noFill/>
            <a:ln>
              <a:noFill/>
            </a:ln>
          </p:spPr>
        </p:pic>
        <p:pic>
          <p:nvPicPr>
            <p:cNvPr id="141" name="Google Shape;141;p21" title="Ara 2@150x.png"/>
            <p:cNvPicPr preferRelativeResize="0"/>
            <p:nvPr/>
          </p:nvPicPr>
          <p:blipFill>
            <a:blip r:embed="rId6">
              <a:alphaModFix/>
            </a:blip>
            <a:stretch>
              <a:fillRect/>
            </a:stretch>
          </p:blipFill>
          <p:spPr>
            <a:xfrm>
              <a:off x="7156918" y="705143"/>
              <a:ext cx="1408400" cy="1407607"/>
            </a:xfrm>
            <a:prstGeom prst="rect">
              <a:avLst/>
            </a:prstGeom>
            <a:noFill/>
            <a:ln>
              <a:noFill/>
            </a:ln>
          </p:spPr>
        </p:pic>
        <p:pic>
          <p:nvPicPr>
            <p:cNvPr id="142" name="Google Shape;142;p21"/>
            <p:cNvPicPr preferRelativeResize="0"/>
            <p:nvPr/>
          </p:nvPicPr>
          <p:blipFill rotWithShape="1">
            <a:blip r:embed="rId3">
              <a:alphaModFix/>
            </a:blip>
            <a:srcRect t="29" b="29"/>
            <a:stretch/>
          </p:blipFill>
          <p:spPr>
            <a:xfrm>
              <a:off x="8439787" y="-580505"/>
              <a:ext cx="1408400" cy="1407585"/>
            </a:xfrm>
            <a:prstGeom prst="rect">
              <a:avLst/>
            </a:prstGeom>
            <a:noFill/>
            <a:ln>
              <a:noFill/>
            </a:ln>
          </p:spPr>
        </p:pic>
        <p:pic>
          <p:nvPicPr>
            <p:cNvPr id="143" name="Google Shape;143;p21" title="Ara 11 @150x.png"/>
            <p:cNvPicPr preferRelativeResize="0"/>
            <p:nvPr/>
          </p:nvPicPr>
          <p:blipFill>
            <a:blip r:embed="rId7">
              <a:alphaModFix/>
            </a:blip>
            <a:stretch>
              <a:fillRect/>
            </a:stretch>
          </p:blipFill>
          <p:spPr>
            <a:xfrm>
              <a:off x="8439799" y="1987627"/>
              <a:ext cx="1408400" cy="1408400"/>
            </a:xfrm>
            <a:prstGeom prst="rect">
              <a:avLst/>
            </a:prstGeom>
            <a:noFill/>
            <a:ln>
              <a:noFill/>
            </a:ln>
          </p:spPr>
        </p:pic>
        <p:sp>
          <p:nvSpPr>
            <p:cNvPr id="144" name="Google Shape;144;p21"/>
            <p:cNvSpPr/>
            <p:nvPr/>
          </p:nvSpPr>
          <p:spPr>
            <a:xfrm>
              <a:off x="8935187" y="1198919"/>
              <a:ext cx="417625" cy="416875"/>
            </a:xfrm>
            <a:custGeom>
              <a:avLst/>
              <a:gdLst/>
              <a:ahLst/>
              <a:cxnLst/>
              <a:rect l="l" t="t" r="r" b="b"/>
              <a:pathLst>
                <a:path w="586" h="585" extrusionOk="0">
                  <a:moveTo>
                    <a:pt x="500" y="378"/>
                  </a:moveTo>
                  <a:lnTo>
                    <a:pt x="586" y="292"/>
                  </a:lnTo>
                  <a:lnTo>
                    <a:pt x="500" y="207"/>
                  </a:lnTo>
                  <a:lnTo>
                    <a:pt x="500" y="85"/>
                  </a:lnTo>
                  <a:lnTo>
                    <a:pt x="379" y="85"/>
                  </a:lnTo>
                  <a:lnTo>
                    <a:pt x="293" y="0"/>
                  </a:lnTo>
                  <a:lnTo>
                    <a:pt x="207" y="85"/>
                  </a:lnTo>
                  <a:lnTo>
                    <a:pt x="86" y="85"/>
                  </a:lnTo>
                  <a:lnTo>
                    <a:pt x="86" y="207"/>
                  </a:lnTo>
                  <a:lnTo>
                    <a:pt x="0" y="292"/>
                  </a:lnTo>
                  <a:lnTo>
                    <a:pt x="86" y="378"/>
                  </a:lnTo>
                  <a:lnTo>
                    <a:pt x="86" y="499"/>
                  </a:lnTo>
                  <a:lnTo>
                    <a:pt x="207" y="499"/>
                  </a:lnTo>
                  <a:lnTo>
                    <a:pt x="293" y="585"/>
                  </a:lnTo>
                  <a:lnTo>
                    <a:pt x="379" y="499"/>
                  </a:lnTo>
                  <a:lnTo>
                    <a:pt x="500" y="499"/>
                  </a:lnTo>
                  <a:lnTo>
                    <a:pt x="500" y="37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 name="Google Shape;145;p21"/>
            <p:cNvSpPr/>
            <p:nvPr/>
          </p:nvSpPr>
          <p:spPr>
            <a:xfrm>
              <a:off x="8935187" y="3802781"/>
              <a:ext cx="417625" cy="416875"/>
            </a:xfrm>
            <a:custGeom>
              <a:avLst/>
              <a:gdLst/>
              <a:ahLst/>
              <a:cxnLst/>
              <a:rect l="l" t="t" r="r" b="b"/>
              <a:pathLst>
                <a:path w="586" h="585" extrusionOk="0">
                  <a:moveTo>
                    <a:pt x="500" y="378"/>
                  </a:moveTo>
                  <a:lnTo>
                    <a:pt x="586" y="292"/>
                  </a:lnTo>
                  <a:lnTo>
                    <a:pt x="500" y="207"/>
                  </a:lnTo>
                  <a:lnTo>
                    <a:pt x="500" y="85"/>
                  </a:lnTo>
                  <a:lnTo>
                    <a:pt x="379" y="85"/>
                  </a:lnTo>
                  <a:lnTo>
                    <a:pt x="293" y="0"/>
                  </a:lnTo>
                  <a:lnTo>
                    <a:pt x="207" y="85"/>
                  </a:lnTo>
                  <a:lnTo>
                    <a:pt x="86" y="85"/>
                  </a:lnTo>
                  <a:lnTo>
                    <a:pt x="86" y="207"/>
                  </a:lnTo>
                  <a:lnTo>
                    <a:pt x="0" y="292"/>
                  </a:lnTo>
                  <a:lnTo>
                    <a:pt x="86" y="378"/>
                  </a:lnTo>
                  <a:lnTo>
                    <a:pt x="86" y="499"/>
                  </a:lnTo>
                  <a:lnTo>
                    <a:pt x="207" y="499"/>
                  </a:lnTo>
                  <a:lnTo>
                    <a:pt x="293" y="585"/>
                  </a:lnTo>
                  <a:lnTo>
                    <a:pt x="379" y="499"/>
                  </a:lnTo>
                  <a:lnTo>
                    <a:pt x="500" y="499"/>
                  </a:lnTo>
                  <a:lnTo>
                    <a:pt x="500" y="37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 name="Google Shape;146;p21"/>
            <p:cNvSpPr/>
            <p:nvPr/>
          </p:nvSpPr>
          <p:spPr>
            <a:xfrm>
              <a:off x="7652312" y="2484806"/>
              <a:ext cx="417625" cy="416875"/>
            </a:xfrm>
            <a:custGeom>
              <a:avLst/>
              <a:gdLst/>
              <a:ahLst/>
              <a:cxnLst/>
              <a:rect l="l" t="t" r="r" b="b"/>
              <a:pathLst>
                <a:path w="586" h="585" extrusionOk="0">
                  <a:moveTo>
                    <a:pt x="500" y="378"/>
                  </a:moveTo>
                  <a:lnTo>
                    <a:pt x="586" y="292"/>
                  </a:lnTo>
                  <a:lnTo>
                    <a:pt x="500" y="207"/>
                  </a:lnTo>
                  <a:lnTo>
                    <a:pt x="500" y="85"/>
                  </a:lnTo>
                  <a:lnTo>
                    <a:pt x="379" y="85"/>
                  </a:lnTo>
                  <a:lnTo>
                    <a:pt x="293" y="0"/>
                  </a:lnTo>
                  <a:lnTo>
                    <a:pt x="207" y="85"/>
                  </a:lnTo>
                  <a:lnTo>
                    <a:pt x="86" y="85"/>
                  </a:lnTo>
                  <a:lnTo>
                    <a:pt x="86" y="207"/>
                  </a:lnTo>
                  <a:lnTo>
                    <a:pt x="0" y="292"/>
                  </a:lnTo>
                  <a:lnTo>
                    <a:pt x="86" y="378"/>
                  </a:lnTo>
                  <a:lnTo>
                    <a:pt x="86" y="499"/>
                  </a:lnTo>
                  <a:lnTo>
                    <a:pt x="207" y="499"/>
                  </a:lnTo>
                  <a:lnTo>
                    <a:pt x="293" y="585"/>
                  </a:lnTo>
                  <a:lnTo>
                    <a:pt x="379" y="499"/>
                  </a:lnTo>
                  <a:lnTo>
                    <a:pt x="500" y="499"/>
                  </a:lnTo>
                  <a:lnTo>
                    <a:pt x="500" y="37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68825"/>
            <a:ext cx="7717500" cy="613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El Messiri"/>
              <a:buNone/>
              <a:defRPr sz="3500" b="1">
                <a:solidFill>
                  <a:schemeClr val="dk1"/>
                </a:solidFill>
                <a:latin typeface="El Messiri"/>
                <a:ea typeface="El Messiri"/>
                <a:cs typeface="El Messiri"/>
                <a:sym typeface="El Messiri"/>
              </a:defRPr>
            </a:lvl1pPr>
            <a:lvl2pPr lvl="1"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2pPr>
            <a:lvl3pPr lvl="2"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3pPr>
            <a:lvl4pPr lvl="3"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4pPr>
            <a:lvl5pPr lvl="4"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5pPr>
            <a:lvl6pPr lvl="5"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6pPr>
            <a:lvl7pPr lvl="6"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7pPr>
            <a:lvl8pPr lvl="7"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8pPr>
            <a:lvl9pPr lvl="8" rtl="0">
              <a:spcBef>
                <a:spcPts val="0"/>
              </a:spcBef>
              <a:spcAft>
                <a:spcPts val="0"/>
              </a:spcAft>
              <a:buClr>
                <a:schemeClr val="dk1"/>
              </a:buClr>
              <a:buSzPts val="3500"/>
              <a:buFont typeface="Marcellus"/>
              <a:buNone/>
              <a:defRPr sz="3500" b="1">
                <a:solidFill>
                  <a:schemeClr val="dk1"/>
                </a:solidFill>
                <a:latin typeface="Marcellus"/>
                <a:ea typeface="Marcellus"/>
                <a:cs typeface="Marcellus"/>
                <a:sym typeface="Marcellus"/>
              </a:defRPr>
            </a:lvl9pPr>
          </a:lstStyle>
          <a:p>
            <a:endParaRPr/>
          </a:p>
        </p:txBody>
      </p:sp>
      <p:sp>
        <p:nvSpPr>
          <p:cNvPr id="7" name="Google Shape;7;p1"/>
          <p:cNvSpPr txBox="1">
            <a:spLocks noGrp="1"/>
          </p:cNvSpPr>
          <p:nvPr>
            <p:ph type="body" idx="1"/>
          </p:nvPr>
        </p:nvSpPr>
        <p:spPr>
          <a:xfrm>
            <a:off x="713225" y="982325"/>
            <a:ext cx="7717500" cy="36216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marL="914400" lvl="1"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8" r:id="rId6"/>
    <p:sldLayoutId id="214748366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5" name="TextBox 4">
            <a:extLst>
              <a:ext uri="{FF2B5EF4-FFF2-40B4-BE49-F238E27FC236}">
                <a16:creationId xmlns:a16="http://schemas.microsoft.com/office/drawing/2014/main" id="{EE979AD5-1DBF-6379-1C8E-769932EBBF90}"/>
              </a:ext>
            </a:extLst>
          </p:cNvPr>
          <p:cNvSpPr txBox="1"/>
          <p:nvPr/>
        </p:nvSpPr>
        <p:spPr>
          <a:xfrm>
            <a:off x="1227221" y="1010653"/>
            <a:ext cx="6497053" cy="1846659"/>
          </a:xfrm>
          <a:prstGeom prst="rect">
            <a:avLst/>
          </a:prstGeom>
          <a:noFill/>
        </p:spPr>
        <p:txBody>
          <a:bodyPr wrap="square" rtlCol="0">
            <a:spAutoFit/>
          </a:bodyPr>
          <a:lstStyle/>
          <a:p>
            <a:pPr algn="ctr"/>
            <a:r>
              <a:rPr lang="en-US" sz="3800" dirty="0">
                <a:latin typeface="El Messiri" panose="020B0604020202020204" charset="-78"/>
                <a:cs typeface="El Messiri" panose="020B0604020202020204" charset="-78"/>
              </a:rPr>
              <a:t>A Solution to Improve Helmet Detection Across Any Construction Site</a:t>
            </a:r>
          </a:p>
        </p:txBody>
      </p:sp>
      <p:sp>
        <p:nvSpPr>
          <p:cNvPr id="6" name="TextBox 5">
            <a:extLst>
              <a:ext uri="{FF2B5EF4-FFF2-40B4-BE49-F238E27FC236}">
                <a16:creationId xmlns:a16="http://schemas.microsoft.com/office/drawing/2014/main" id="{740FE99C-E2B6-69CD-6CF3-88D2102B2C10}"/>
              </a:ext>
            </a:extLst>
          </p:cNvPr>
          <p:cNvSpPr txBox="1"/>
          <p:nvPr/>
        </p:nvSpPr>
        <p:spPr>
          <a:xfrm>
            <a:off x="421106" y="3236495"/>
            <a:ext cx="3368842" cy="1015663"/>
          </a:xfrm>
          <a:prstGeom prst="rect">
            <a:avLst/>
          </a:prstGeom>
          <a:noFill/>
        </p:spPr>
        <p:txBody>
          <a:bodyPr wrap="square" rtlCol="0">
            <a:spAutoFit/>
          </a:bodyPr>
          <a:lstStyle/>
          <a:p>
            <a:r>
              <a:rPr lang="en-US" sz="2000" dirty="0">
                <a:latin typeface="El Messiri" panose="020B0604020202020204" charset="-78"/>
                <a:cs typeface="El Messiri" panose="020B0604020202020204" charset="-78"/>
              </a:rPr>
              <a:t>Presented by: Omar Geasa </a:t>
            </a:r>
          </a:p>
          <a:p>
            <a:endParaRPr lang="en-US" sz="2000" dirty="0">
              <a:latin typeface="El Messiri" panose="020B0604020202020204" charset="-78"/>
              <a:cs typeface="El Messiri" panose="020B0604020202020204" charset="-78"/>
            </a:endParaRPr>
          </a:p>
          <a:p>
            <a:r>
              <a:rPr lang="en-US" sz="2000" dirty="0">
                <a:latin typeface="El Messiri" panose="020B0604020202020204" charset="-78"/>
                <a:cs typeface="El Messiri" panose="020B0604020202020204" charset="-78"/>
              </a:rPr>
              <a:t>Supervision: Dr. Elhossieny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E2CFAD24-FB8E-B4C7-D121-D9670A52F24F}"/>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F9572AAF-9218-1BCD-D037-BCA4473C7B2C}"/>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Agenda</a:t>
            </a:r>
            <a:endParaRPr dirty="0"/>
          </a:p>
        </p:txBody>
      </p:sp>
      <p:cxnSp>
        <p:nvCxnSpPr>
          <p:cNvPr id="572" name="Google Shape;572;p42">
            <a:extLst>
              <a:ext uri="{FF2B5EF4-FFF2-40B4-BE49-F238E27FC236}">
                <a16:creationId xmlns:a16="http://schemas.microsoft.com/office/drawing/2014/main" id="{520D1495-9212-0F8C-678B-2FB2102E1B7D}"/>
              </a:ext>
            </a:extLst>
          </p:cNvPr>
          <p:cNvCxnSpPr>
            <a:stCxn id="573" idx="2"/>
            <a:endCxn id="574" idx="0"/>
          </p:cNvCxnSpPr>
          <p:nvPr/>
        </p:nvCxnSpPr>
        <p:spPr>
          <a:xfrm>
            <a:off x="5448075" y="1920331"/>
            <a:ext cx="0" cy="928200"/>
          </a:xfrm>
          <a:prstGeom prst="straightConnector1">
            <a:avLst/>
          </a:prstGeom>
          <a:noFill/>
          <a:ln w="38100" cap="flat" cmpd="sng">
            <a:solidFill>
              <a:schemeClr val="lt2"/>
            </a:solidFill>
            <a:prstDash val="solid"/>
            <a:round/>
            <a:headEnd type="none" w="med" len="med"/>
            <a:tailEnd type="none" w="med" len="med"/>
          </a:ln>
        </p:spPr>
      </p:cxnSp>
      <p:cxnSp>
        <p:nvCxnSpPr>
          <p:cNvPr id="575" name="Google Shape;575;p42">
            <a:extLst>
              <a:ext uri="{FF2B5EF4-FFF2-40B4-BE49-F238E27FC236}">
                <a16:creationId xmlns:a16="http://schemas.microsoft.com/office/drawing/2014/main" id="{50F235D0-0CB1-2DF9-2AD3-BCD5A92DDD78}"/>
              </a:ext>
            </a:extLst>
          </p:cNvPr>
          <p:cNvCxnSpPr>
            <a:stCxn id="574" idx="2"/>
            <a:endCxn id="576" idx="0"/>
          </p:cNvCxnSpPr>
          <p:nvPr/>
        </p:nvCxnSpPr>
        <p:spPr>
          <a:xfrm>
            <a:off x="5448101" y="3033692"/>
            <a:ext cx="0" cy="935100"/>
          </a:xfrm>
          <a:prstGeom prst="straightConnector1">
            <a:avLst/>
          </a:prstGeom>
          <a:noFill/>
          <a:ln w="38100" cap="flat" cmpd="sng">
            <a:solidFill>
              <a:schemeClr val="lt2"/>
            </a:solidFill>
            <a:prstDash val="solid"/>
            <a:round/>
            <a:headEnd type="none" w="med" len="med"/>
            <a:tailEnd type="none" w="med" len="med"/>
          </a:ln>
        </p:spPr>
      </p:cxnSp>
      <p:sp>
        <p:nvSpPr>
          <p:cNvPr id="577" name="Google Shape;577;p42">
            <a:extLst>
              <a:ext uri="{FF2B5EF4-FFF2-40B4-BE49-F238E27FC236}">
                <a16:creationId xmlns:a16="http://schemas.microsoft.com/office/drawing/2014/main" id="{51ED7683-57D4-7B9A-DC9F-E124CE2AC8AA}"/>
              </a:ext>
            </a:extLst>
          </p:cNvPr>
          <p:cNvSpPr txBox="1"/>
          <p:nvPr/>
        </p:nvSpPr>
        <p:spPr>
          <a:xfrm>
            <a:off x="5996222" y="1663783"/>
            <a:ext cx="2810894" cy="423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dk1"/>
                </a:solidFill>
                <a:latin typeface="El Messiri"/>
                <a:ea typeface="El Messiri"/>
                <a:cs typeface="El Messiri"/>
                <a:sym typeface="El Messiri"/>
              </a:rPr>
              <a:t>Model Architecture</a:t>
            </a:r>
            <a:endParaRPr sz="2400" b="1" dirty="0">
              <a:solidFill>
                <a:schemeClr val="dk1"/>
              </a:solidFill>
              <a:latin typeface="El Messiri"/>
              <a:ea typeface="El Messiri"/>
              <a:cs typeface="El Messiri"/>
              <a:sym typeface="El Messiri"/>
            </a:endParaRPr>
          </a:p>
        </p:txBody>
      </p:sp>
      <p:sp>
        <p:nvSpPr>
          <p:cNvPr id="573" name="Google Shape;573;p42">
            <a:extLst>
              <a:ext uri="{FF2B5EF4-FFF2-40B4-BE49-F238E27FC236}">
                <a16:creationId xmlns:a16="http://schemas.microsoft.com/office/drawing/2014/main" id="{782EC8EB-D1FB-498E-2AC0-A9E34531E245}"/>
              </a:ext>
            </a:extLst>
          </p:cNvPr>
          <p:cNvSpPr/>
          <p:nvPr/>
        </p:nvSpPr>
        <p:spPr>
          <a:xfrm>
            <a:off x="5355525" y="1735231"/>
            <a:ext cx="185100" cy="185100"/>
          </a:xfrm>
          <a:prstGeom prst="diamond">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200">
              <a:solidFill>
                <a:srgbClr val="412627"/>
              </a:solidFill>
              <a:latin typeface="DM Serif Display"/>
              <a:ea typeface="DM Serif Display"/>
              <a:cs typeface="DM Serif Display"/>
              <a:sym typeface="DM Serif Display"/>
            </a:endParaRPr>
          </a:p>
        </p:txBody>
      </p:sp>
      <p:sp>
        <p:nvSpPr>
          <p:cNvPr id="579" name="Google Shape;579;p42">
            <a:extLst>
              <a:ext uri="{FF2B5EF4-FFF2-40B4-BE49-F238E27FC236}">
                <a16:creationId xmlns:a16="http://schemas.microsoft.com/office/drawing/2014/main" id="{FADDC9F5-941D-5511-CC9E-CF5318749077}"/>
              </a:ext>
            </a:extLst>
          </p:cNvPr>
          <p:cNvSpPr txBox="1"/>
          <p:nvPr/>
        </p:nvSpPr>
        <p:spPr>
          <a:xfrm>
            <a:off x="994377" y="1690340"/>
            <a:ext cx="2153400" cy="4236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dirty="0">
                <a:solidFill>
                  <a:schemeClr val="dk1"/>
                </a:solidFill>
                <a:latin typeface="El Messiri"/>
                <a:ea typeface="El Messiri"/>
                <a:cs typeface="El Messiri"/>
                <a:sym typeface="El Messiri"/>
              </a:rPr>
              <a:t>Intrdouction</a:t>
            </a:r>
            <a:endParaRPr sz="2400" b="1" dirty="0">
              <a:solidFill>
                <a:schemeClr val="dk1"/>
              </a:solidFill>
              <a:latin typeface="El Messiri"/>
              <a:ea typeface="El Messiri"/>
              <a:cs typeface="El Messiri"/>
              <a:sym typeface="El Messiri"/>
            </a:endParaRPr>
          </a:p>
        </p:txBody>
      </p:sp>
      <p:sp>
        <p:nvSpPr>
          <p:cNvPr id="581" name="Google Shape;581;p42">
            <a:extLst>
              <a:ext uri="{FF2B5EF4-FFF2-40B4-BE49-F238E27FC236}">
                <a16:creationId xmlns:a16="http://schemas.microsoft.com/office/drawing/2014/main" id="{7C882BC8-808B-FA6A-E553-F59E80CDC4A1}"/>
              </a:ext>
            </a:extLst>
          </p:cNvPr>
          <p:cNvSpPr/>
          <p:nvPr/>
        </p:nvSpPr>
        <p:spPr>
          <a:xfrm>
            <a:off x="3603475" y="1735269"/>
            <a:ext cx="185100" cy="185100"/>
          </a:xfrm>
          <a:prstGeom prst="diamond">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200">
              <a:solidFill>
                <a:srgbClr val="412627"/>
              </a:solidFill>
              <a:latin typeface="DM Serif Display"/>
              <a:ea typeface="DM Serif Display"/>
              <a:cs typeface="DM Serif Display"/>
              <a:sym typeface="DM Serif Display"/>
            </a:endParaRPr>
          </a:p>
        </p:txBody>
      </p:sp>
      <p:sp>
        <p:nvSpPr>
          <p:cNvPr id="582" name="Google Shape;582;p42">
            <a:extLst>
              <a:ext uri="{FF2B5EF4-FFF2-40B4-BE49-F238E27FC236}">
                <a16:creationId xmlns:a16="http://schemas.microsoft.com/office/drawing/2014/main" id="{FAB8A849-EDDE-C8AF-D05F-A392A332CAD6}"/>
              </a:ext>
            </a:extLst>
          </p:cNvPr>
          <p:cNvSpPr txBox="1"/>
          <p:nvPr/>
        </p:nvSpPr>
        <p:spPr>
          <a:xfrm>
            <a:off x="5996222" y="2768841"/>
            <a:ext cx="2153400" cy="423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dk1"/>
                </a:solidFill>
                <a:latin typeface="El Messiri"/>
                <a:ea typeface="El Messiri"/>
                <a:cs typeface="El Messiri"/>
                <a:sym typeface="El Messiri"/>
              </a:rPr>
              <a:t>Results</a:t>
            </a:r>
            <a:endParaRPr sz="2400" b="1" dirty="0">
              <a:solidFill>
                <a:schemeClr val="dk1"/>
              </a:solidFill>
              <a:latin typeface="El Messiri"/>
              <a:ea typeface="El Messiri"/>
              <a:cs typeface="El Messiri"/>
              <a:sym typeface="El Messiri"/>
            </a:endParaRPr>
          </a:p>
        </p:txBody>
      </p:sp>
      <p:sp>
        <p:nvSpPr>
          <p:cNvPr id="574" name="Google Shape;574;p42">
            <a:extLst>
              <a:ext uri="{FF2B5EF4-FFF2-40B4-BE49-F238E27FC236}">
                <a16:creationId xmlns:a16="http://schemas.microsoft.com/office/drawing/2014/main" id="{0C92C778-1954-26EE-D3CF-D8D127CA721F}"/>
              </a:ext>
            </a:extLst>
          </p:cNvPr>
          <p:cNvSpPr/>
          <p:nvPr/>
        </p:nvSpPr>
        <p:spPr>
          <a:xfrm>
            <a:off x="5355551" y="2848592"/>
            <a:ext cx="185100" cy="185100"/>
          </a:xfrm>
          <a:prstGeom prst="diamond">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200">
              <a:solidFill>
                <a:srgbClr val="412627"/>
              </a:solidFill>
              <a:latin typeface="DM Serif Display"/>
              <a:ea typeface="DM Serif Display"/>
              <a:cs typeface="DM Serif Display"/>
              <a:sym typeface="DM Serif Display"/>
            </a:endParaRPr>
          </a:p>
        </p:txBody>
      </p:sp>
      <p:sp>
        <p:nvSpPr>
          <p:cNvPr id="584" name="Google Shape;584;p42">
            <a:extLst>
              <a:ext uri="{FF2B5EF4-FFF2-40B4-BE49-F238E27FC236}">
                <a16:creationId xmlns:a16="http://schemas.microsoft.com/office/drawing/2014/main" id="{5E154695-B630-BC5C-6824-838450702655}"/>
              </a:ext>
            </a:extLst>
          </p:cNvPr>
          <p:cNvSpPr txBox="1"/>
          <p:nvPr/>
        </p:nvSpPr>
        <p:spPr>
          <a:xfrm>
            <a:off x="301186" y="2836363"/>
            <a:ext cx="2916231" cy="4236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dirty="0">
                <a:solidFill>
                  <a:schemeClr val="dk1"/>
                </a:solidFill>
                <a:latin typeface="El Messiri"/>
                <a:ea typeface="El Messiri"/>
                <a:cs typeface="El Messiri"/>
                <a:sym typeface="El Messiri"/>
              </a:rPr>
              <a:t>Problem Statemtent</a:t>
            </a:r>
            <a:endParaRPr sz="2400" b="1" dirty="0">
              <a:solidFill>
                <a:schemeClr val="dk1"/>
              </a:solidFill>
              <a:latin typeface="El Messiri"/>
              <a:ea typeface="El Messiri"/>
              <a:cs typeface="El Messiri"/>
              <a:sym typeface="El Messiri"/>
            </a:endParaRPr>
          </a:p>
        </p:txBody>
      </p:sp>
      <p:sp>
        <p:nvSpPr>
          <p:cNvPr id="586" name="Google Shape;586;p42">
            <a:extLst>
              <a:ext uri="{FF2B5EF4-FFF2-40B4-BE49-F238E27FC236}">
                <a16:creationId xmlns:a16="http://schemas.microsoft.com/office/drawing/2014/main" id="{E984B59C-A6D5-E3D4-704C-D42328955129}"/>
              </a:ext>
            </a:extLst>
          </p:cNvPr>
          <p:cNvSpPr/>
          <p:nvPr/>
        </p:nvSpPr>
        <p:spPr>
          <a:xfrm>
            <a:off x="3603449" y="2848592"/>
            <a:ext cx="185100" cy="185100"/>
          </a:xfrm>
          <a:prstGeom prst="diamond">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200">
              <a:solidFill>
                <a:srgbClr val="412627"/>
              </a:solidFill>
              <a:latin typeface="DM Serif Display"/>
              <a:ea typeface="DM Serif Display"/>
              <a:cs typeface="DM Serif Display"/>
              <a:sym typeface="DM Serif Display"/>
            </a:endParaRPr>
          </a:p>
        </p:txBody>
      </p:sp>
      <p:sp>
        <p:nvSpPr>
          <p:cNvPr id="587" name="Google Shape;587;p42">
            <a:extLst>
              <a:ext uri="{FF2B5EF4-FFF2-40B4-BE49-F238E27FC236}">
                <a16:creationId xmlns:a16="http://schemas.microsoft.com/office/drawing/2014/main" id="{861B34E5-A7E6-C925-67DB-07B6BFF5FA93}"/>
              </a:ext>
            </a:extLst>
          </p:cNvPr>
          <p:cNvSpPr txBox="1"/>
          <p:nvPr/>
        </p:nvSpPr>
        <p:spPr>
          <a:xfrm>
            <a:off x="5933906" y="3928925"/>
            <a:ext cx="2153400" cy="423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dk1"/>
                </a:solidFill>
                <a:latin typeface="El Messiri"/>
                <a:ea typeface="El Messiri"/>
                <a:cs typeface="El Messiri"/>
                <a:sym typeface="El Messiri"/>
              </a:rPr>
              <a:t>Future Work</a:t>
            </a:r>
            <a:endParaRPr sz="2400" b="1" dirty="0">
              <a:solidFill>
                <a:schemeClr val="dk1"/>
              </a:solidFill>
              <a:latin typeface="El Messiri"/>
              <a:ea typeface="El Messiri"/>
              <a:cs typeface="El Messiri"/>
              <a:sym typeface="El Messiri"/>
            </a:endParaRPr>
          </a:p>
        </p:txBody>
      </p:sp>
      <p:sp>
        <p:nvSpPr>
          <p:cNvPr id="576" name="Google Shape;576;p42">
            <a:extLst>
              <a:ext uri="{FF2B5EF4-FFF2-40B4-BE49-F238E27FC236}">
                <a16:creationId xmlns:a16="http://schemas.microsoft.com/office/drawing/2014/main" id="{496940FC-13C4-E02C-6AD1-7021FC0D885A}"/>
              </a:ext>
            </a:extLst>
          </p:cNvPr>
          <p:cNvSpPr/>
          <p:nvPr/>
        </p:nvSpPr>
        <p:spPr>
          <a:xfrm>
            <a:off x="5355469" y="3968794"/>
            <a:ext cx="185100" cy="185100"/>
          </a:xfrm>
          <a:prstGeom prst="diamond">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sz="2200">
              <a:solidFill>
                <a:srgbClr val="412627"/>
              </a:solidFill>
              <a:latin typeface="DM Serif Display"/>
              <a:ea typeface="DM Serif Display"/>
              <a:cs typeface="DM Serif Display"/>
              <a:sym typeface="DM Serif Display"/>
            </a:endParaRPr>
          </a:p>
        </p:txBody>
      </p:sp>
      <p:cxnSp>
        <p:nvCxnSpPr>
          <p:cNvPr id="592" name="Google Shape;592;p42">
            <a:extLst>
              <a:ext uri="{FF2B5EF4-FFF2-40B4-BE49-F238E27FC236}">
                <a16:creationId xmlns:a16="http://schemas.microsoft.com/office/drawing/2014/main" id="{8FF92A29-248F-5548-556C-8974CD88D65F}"/>
              </a:ext>
            </a:extLst>
          </p:cNvPr>
          <p:cNvCxnSpPr>
            <a:stCxn id="581" idx="2"/>
            <a:endCxn id="586" idx="0"/>
          </p:cNvCxnSpPr>
          <p:nvPr/>
        </p:nvCxnSpPr>
        <p:spPr>
          <a:xfrm>
            <a:off x="3696025" y="1920369"/>
            <a:ext cx="0" cy="928200"/>
          </a:xfrm>
          <a:prstGeom prst="straightConnector1">
            <a:avLst/>
          </a:prstGeom>
          <a:noFill/>
          <a:ln w="38100" cap="flat" cmpd="sng">
            <a:solidFill>
              <a:schemeClr val="lt2"/>
            </a:solidFill>
            <a:prstDash val="solid"/>
            <a:round/>
            <a:headEnd type="none" w="med" len="med"/>
            <a:tailEnd type="none" w="med" len="med"/>
          </a:ln>
        </p:spPr>
      </p:cxnSp>
      <p:cxnSp>
        <p:nvCxnSpPr>
          <p:cNvPr id="594" name="Google Shape;594;p42">
            <a:extLst>
              <a:ext uri="{FF2B5EF4-FFF2-40B4-BE49-F238E27FC236}">
                <a16:creationId xmlns:a16="http://schemas.microsoft.com/office/drawing/2014/main" id="{0E406A23-3817-D5D4-B2E8-ED257F3948AD}"/>
              </a:ext>
            </a:extLst>
          </p:cNvPr>
          <p:cNvCxnSpPr>
            <a:cxnSpLocks/>
            <a:endCxn id="573" idx="1"/>
          </p:cNvCxnSpPr>
          <p:nvPr/>
        </p:nvCxnSpPr>
        <p:spPr>
          <a:xfrm flipV="1">
            <a:off x="3980044" y="1827781"/>
            <a:ext cx="1375481" cy="1129653"/>
          </a:xfrm>
          <a:prstGeom prst="bentConnector3">
            <a:avLst>
              <a:gd name="adj1" fmla="val 50000"/>
            </a:avLst>
          </a:prstGeom>
          <a:noFill/>
          <a:ln w="38100" cap="flat" cmpd="sng">
            <a:solidFill>
              <a:schemeClr val="lt2"/>
            </a:solidFill>
            <a:prstDash val="solid"/>
            <a:round/>
            <a:headEnd type="none" w="med" len="med"/>
            <a:tailEnd type="none" w="med" len="med"/>
          </a:ln>
        </p:spPr>
      </p:cxnSp>
      <p:sp>
        <p:nvSpPr>
          <p:cNvPr id="595" name="Google Shape;595;p42">
            <a:extLst>
              <a:ext uri="{FF2B5EF4-FFF2-40B4-BE49-F238E27FC236}">
                <a16:creationId xmlns:a16="http://schemas.microsoft.com/office/drawing/2014/main" id="{46931845-7611-6D10-1DB4-45E516B6DF48}"/>
              </a:ext>
            </a:extLst>
          </p:cNvPr>
          <p:cNvSpPr/>
          <p:nvPr/>
        </p:nvSpPr>
        <p:spPr>
          <a:xfrm>
            <a:off x="3302644" y="1436256"/>
            <a:ext cx="786675" cy="784375"/>
          </a:xfrm>
          <a:custGeom>
            <a:avLst/>
            <a:gdLst/>
            <a:ahLst/>
            <a:cxnLst/>
            <a:rect l="l" t="t" r="r" b="b"/>
            <a:pathLst>
              <a:path w="347" h="346" extrusionOk="0">
                <a:moveTo>
                  <a:pt x="288" y="115"/>
                </a:moveTo>
                <a:lnTo>
                  <a:pt x="283" y="115"/>
                </a:lnTo>
                <a:lnTo>
                  <a:pt x="283" y="85"/>
                </a:lnTo>
                <a:cubicBezTo>
                  <a:pt x="283" y="73"/>
                  <a:pt x="274" y="63"/>
                  <a:pt x="262" y="63"/>
                </a:cubicBezTo>
                <a:lnTo>
                  <a:pt x="232" y="63"/>
                </a:lnTo>
                <a:lnTo>
                  <a:pt x="232" y="59"/>
                </a:lnTo>
                <a:cubicBezTo>
                  <a:pt x="232" y="26"/>
                  <a:pt x="205" y="0"/>
                  <a:pt x="173" y="0"/>
                </a:cubicBezTo>
                <a:lnTo>
                  <a:pt x="173" y="0"/>
                </a:lnTo>
                <a:cubicBezTo>
                  <a:pt x="141" y="0"/>
                  <a:pt x="114" y="26"/>
                  <a:pt x="114" y="59"/>
                </a:cubicBezTo>
                <a:lnTo>
                  <a:pt x="114" y="63"/>
                </a:lnTo>
                <a:lnTo>
                  <a:pt x="85" y="63"/>
                </a:lnTo>
                <a:cubicBezTo>
                  <a:pt x="73" y="63"/>
                  <a:pt x="63" y="73"/>
                  <a:pt x="63" y="85"/>
                </a:cubicBezTo>
                <a:lnTo>
                  <a:pt x="63" y="115"/>
                </a:lnTo>
                <a:lnTo>
                  <a:pt x="58" y="115"/>
                </a:lnTo>
                <a:cubicBezTo>
                  <a:pt x="26" y="115"/>
                  <a:pt x="0" y="141"/>
                  <a:pt x="0" y="173"/>
                </a:cubicBezTo>
                <a:lnTo>
                  <a:pt x="0" y="173"/>
                </a:lnTo>
                <a:cubicBezTo>
                  <a:pt x="0" y="206"/>
                  <a:pt x="26" y="232"/>
                  <a:pt x="58" y="232"/>
                </a:cubicBezTo>
                <a:lnTo>
                  <a:pt x="63" y="232"/>
                </a:lnTo>
                <a:lnTo>
                  <a:pt x="63" y="262"/>
                </a:lnTo>
                <a:cubicBezTo>
                  <a:pt x="63" y="274"/>
                  <a:pt x="73" y="283"/>
                  <a:pt x="85" y="283"/>
                </a:cubicBezTo>
                <a:lnTo>
                  <a:pt x="114" y="283"/>
                </a:lnTo>
                <a:lnTo>
                  <a:pt x="114" y="287"/>
                </a:lnTo>
                <a:cubicBezTo>
                  <a:pt x="114" y="319"/>
                  <a:pt x="141" y="346"/>
                  <a:pt x="173" y="346"/>
                </a:cubicBezTo>
                <a:lnTo>
                  <a:pt x="173" y="346"/>
                </a:lnTo>
                <a:cubicBezTo>
                  <a:pt x="205" y="346"/>
                  <a:pt x="232" y="319"/>
                  <a:pt x="232" y="287"/>
                </a:cubicBezTo>
                <a:lnTo>
                  <a:pt x="232" y="283"/>
                </a:lnTo>
                <a:lnTo>
                  <a:pt x="262" y="283"/>
                </a:lnTo>
                <a:cubicBezTo>
                  <a:pt x="274" y="283"/>
                  <a:pt x="283" y="274"/>
                  <a:pt x="283" y="262"/>
                </a:cubicBezTo>
                <a:lnTo>
                  <a:pt x="283" y="232"/>
                </a:lnTo>
                <a:lnTo>
                  <a:pt x="288" y="232"/>
                </a:lnTo>
                <a:cubicBezTo>
                  <a:pt x="320" y="232"/>
                  <a:pt x="347" y="206"/>
                  <a:pt x="347" y="173"/>
                </a:cubicBezTo>
                <a:lnTo>
                  <a:pt x="347" y="173"/>
                </a:lnTo>
                <a:cubicBezTo>
                  <a:pt x="347" y="141"/>
                  <a:pt x="320" y="115"/>
                  <a:pt x="288" y="11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6" name="Google Shape;596;p42">
            <a:extLst>
              <a:ext uri="{FF2B5EF4-FFF2-40B4-BE49-F238E27FC236}">
                <a16:creationId xmlns:a16="http://schemas.microsoft.com/office/drawing/2014/main" id="{556DA8E1-5860-D806-CBCF-0E3CD9DDCEC1}"/>
              </a:ext>
            </a:extLst>
          </p:cNvPr>
          <p:cNvSpPr/>
          <p:nvPr/>
        </p:nvSpPr>
        <p:spPr>
          <a:xfrm>
            <a:off x="3302695" y="2553781"/>
            <a:ext cx="786675" cy="784375"/>
          </a:xfrm>
          <a:custGeom>
            <a:avLst/>
            <a:gdLst/>
            <a:ahLst/>
            <a:cxnLst/>
            <a:rect l="l" t="t" r="r" b="b"/>
            <a:pathLst>
              <a:path w="347" h="346" extrusionOk="0">
                <a:moveTo>
                  <a:pt x="288" y="115"/>
                </a:moveTo>
                <a:lnTo>
                  <a:pt x="283" y="115"/>
                </a:lnTo>
                <a:lnTo>
                  <a:pt x="283" y="85"/>
                </a:lnTo>
                <a:cubicBezTo>
                  <a:pt x="283" y="73"/>
                  <a:pt x="274" y="63"/>
                  <a:pt x="262" y="63"/>
                </a:cubicBezTo>
                <a:lnTo>
                  <a:pt x="232" y="63"/>
                </a:lnTo>
                <a:lnTo>
                  <a:pt x="232" y="59"/>
                </a:lnTo>
                <a:cubicBezTo>
                  <a:pt x="232" y="26"/>
                  <a:pt x="205" y="0"/>
                  <a:pt x="173" y="0"/>
                </a:cubicBezTo>
                <a:lnTo>
                  <a:pt x="173" y="0"/>
                </a:lnTo>
                <a:cubicBezTo>
                  <a:pt x="141" y="0"/>
                  <a:pt x="114" y="26"/>
                  <a:pt x="114" y="59"/>
                </a:cubicBezTo>
                <a:lnTo>
                  <a:pt x="114" y="63"/>
                </a:lnTo>
                <a:lnTo>
                  <a:pt x="85" y="63"/>
                </a:lnTo>
                <a:cubicBezTo>
                  <a:pt x="73" y="63"/>
                  <a:pt x="63" y="73"/>
                  <a:pt x="63" y="85"/>
                </a:cubicBezTo>
                <a:lnTo>
                  <a:pt x="63" y="115"/>
                </a:lnTo>
                <a:lnTo>
                  <a:pt x="58" y="115"/>
                </a:lnTo>
                <a:cubicBezTo>
                  <a:pt x="26" y="115"/>
                  <a:pt x="0" y="141"/>
                  <a:pt x="0" y="173"/>
                </a:cubicBezTo>
                <a:lnTo>
                  <a:pt x="0" y="173"/>
                </a:lnTo>
                <a:cubicBezTo>
                  <a:pt x="0" y="206"/>
                  <a:pt x="26" y="232"/>
                  <a:pt x="58" y="232"/>
                </a:cubicBezTo>
                <a:lnTo>
                  <a:pt x="63" y="232"/>
                </a:lnTo>
                <a:lnTo>
                  <a:pt x="63" y="262"/>
                </a:lnTo>
                <a:cubicBezTo>
                  <a:pt x="63" y="274"/>
                  <a:pt x="73" y="283"/>
                  <a:pt x="85" y="283"/>
                </a:cubicBezTo>
                <a:lnTo>
                  <a:pt x="114" y="283"/>
                </a:lnTo>
                <a:lnTo>
                  <a:pt x="114" y="287"/>
                </a:lnTo>
                <a:cubicBezTo>
                  <a:pt x="114" y="319"/>
                  <a:pt x="141" y="346"/>
                  <a:pt x="173" y="346"/>
                </a:cubicBezTo>
                <a:lnTo>
                  <a:pt x="173" y="346"/>
                </a:lnTo>
                <a:cubicBezTo>
                  <a:pt x="205" y="346"/>
                  <a:pt x="232" y="319"/>
                  <a:pt x="232" y="287"/>
                </a:cubicBezTo>
                <a:lnTo>
                  <a:pt x="232" y="283"/>
                </a:lnTo>
                <a:lnTo>
                  <a:pt x="262" y="283"/>
                </a:lnTo>
                <a:cubicBezTo>
                  <a:pt x="274" y="283"/>
                  <a:pt x="283" y="274"/>
                  <a:pt x="283" y="262"/>
                </a:cubicBezTo>
                <a:lnTo>
                  <a:pt x="283" y="232"/>
                </a:lnTo>
                <a:lnTo>
                  <a:pt x="288" y="232"/>
                </a:lnTo>
                <a:cubicBezTo>
                  <a:pt x="320" y="232"/>
                  <a:pt x="347" y="206"/>
                  <a:pt x="347" y="173"/>
                </a:cubicBezTo>
                <a:lnTo>
                  <a:pt x="347" y="173"/>
                </a:lnTo>
                <a:cubicBezTo>
                  <a:pt x="347" y="141"/>
                  <a:pt x="320" y="115"/>
                  <a:pt x="288" y="11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98" name="Google Shape;598;p42">
            <a:extLst>
              <a:ext uri="{FF2B5EF4-FFF2-40B4-BE49-F238E27FC236}">
                <a16:creationId xmlns:a16="http://schemas.microsoft.com/office/drawing/2014/main" id="{B8A32805-E9FA-FE0A-0F6E-772355AA703D}"/>
              </a:ext>
            </a:extLst>
          </p:cNvPr>
          <p:cNvSpPr/>
          <p:nvPr/>
        </p:nvSpPr>
        <p:spPr>
          <a:xfrm>
            <a:off x="3302644" y="2551631"/>
            <a:ext cx="786675" cy="784375"/>
          </a:xfrm>
          <a:custGeom>
            <a:avLst/>
            <a:gdLst/>
            <a:ahLst/>
            <a:cxnLst/>
            <a:rect l="l" t="t" r="r" b="b"/>
            <a:pathLst>
              <a:path w="347" h="346" extrusionOk="0">
                <a:moveTo>
                  <a:pt x="288" y="115"/>
                </a:moveTo>
                <a:lnTo>
                  <a:pt x="283" y="115"/>
                </a:lnTo>
                <a:lnTo>
                  <a:pt x="283" y="85"/>
                </a:lnTo>
                <a:cubicBezTo>
                  <a:pt x="283" y="73"/>
                  <a:pt x="274" y="63"/>
                  <a:pt x="262" y="63"/>
                </a:cubicBezTo>
                <a:lnTo>
                  <a:pt x="232" y="63"/>
                </a:lnTo>
                <a:lnTo>
                  <a:pt x="232" y="59"/>
                </a:lnTo>
                <a:cubicBezTo>
                  <a:pt x="232" y="26"/>
                  <a:pt x="205" y="0"/>
                  <a:pt x="173" y="0"/>
                </a:cubicBezTo>
                <a:lnTo>
                  <a:pt x="173" y="0"/>
                </a:lnTo>
                <a:cubicBezTo>
                  <a:pt x="141" y="0"/>
                  <a:pt x="114" y="26"/>
                  <a:pt x="114" y="59"/>
                </a:cubicBezTo>
                <a:lnTo>
                  <a:pt x="114" y="63"/>
                </a:lnTo>
                <a:lnTo>
                  <a:pt x="85" y="63"/>
                </a:lnTo>
                <a:cubicBezTo>
                  <a:pt x="73" y="63"/>
                  <a:pt x="63" y="73"/>
                  <a:pt x="63" y="85"/>
                </a:cubicBezTo>
                <a:lnTo>
                  <a:pt x="63" y="115"/>
                </a:lnTo>
                <a:lnTo>
                  <a:pt x="58" y="115"/>
                </a:lnTo>
                <a:cubicBezTo>
                  <a:pt x="26" y="115"/>
                  <a:pt x="0" y="141"/>
                  <a:pt x="0" y="173"/>
                </a:cubicBezTo>
                <a:lnTo>
                  <a:pt x="0" y="173"/>
                </a:lnTo>
                <a:cubicBezTo>
                  <a:pt x="0" y="206"/>
                  <a:pt x="26" y="232"/>
                  <a:pt x="58" y="232"/>
                </a:cubicBezTo>
                <a:lnTo>
                  <a:pt x="63" y="232"/>
                </a:lnTo>
                <a:lnTo>
                  <a:pt x="63" y="262"/>
                </a:lnTo>
                <a:cubicBezTo>
                  <a:pt x="63" y="274"/>
                  <a:pt x="73" y="283"/>
                  <a:pt x="85" y="283"/>
                </a:cubicBezTo>
                <a:lnTo>
                  <a:pt x="114" y="283"/>
                </a:lnTo>
                <a:lnTo>
                  <a:pt x="114" y="287"/>
                </a:lnTo>
                <a:cubicBezTo>
                  <a:pt x="114" y="319"/>
                  <a:pt x="141" y="346"/>
                  <a:pt x="173" y="346"/>
                </a:cubicBezTo>
                <a:lnTo>
                  <a:pt x="173" y="346"/>
                </a:lnTo>
                <a:cubicBezTo>
                  <a:pt x="205" y="346"/>
                  <a:pt x="232" y="319"/>
                  <a:pt x="232" y="287"/>
                </a:cubicBezTo>
                <a:lnTo>
                  <a:pt x="232" y="283"/>
                </a:lnTo>
                <a:lnTo>
                  <a:pt x="262" y="283"/>
                </a:lnTo>
                <a:cubicBezTo>
                  <a:pt x="274" y="283"/>
                  <a:pt x="283" y="274"/>
                  <a:pt x="283" y="262"/>
                </a:cubicBezTo>
                <a:lnTo>
                  <a:pt x="283" y="232"/>
                </a:lnTo>
                <a:lnTo>
                  <a:pt x="288" y="232"/>
                </a:lnTo>
                <a:cubicBezTo>
                  <a:pt x="320" y="232"/>
                  <a:pt x="347" y="206"/>
                  <a:pt x="347" y="173"/>
                </a:cubicBezTo>
                <a:lnTo>
                  <a:pt x="347" y="173"/>
                </a:lnTo>
                <a:cubicBezTo>
                  <a:pt x="347" y="141"/>
                  <a:pt x="320" y="115"/>
                  <a:pt x="288" y="11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0" name="Google Shape;600;p42">
            <a:extLst>
              <a:ext uri="{FF2B5EF4-FFF2-40B4-BE49-F238E27FC236}">
                <a16:creationId xmlns:a16="http://schemas.microsoft.com/office/drawing/2014/main" id="{BC4D4265-B9D9-9E75-2B91-65292E382222}"/>
              </a:ext>
            </a:extLst>
          </p:cNvPr>
          <p:cNvSpPr/>
          <p:nvPr/>
        </p:nvSpPr>
        <p:spPr>
          <a:xfrm>
            <a:off x="5054681" y="1436256"/>
            <a:ext cx="786675" cy="784375"/>
          </a:xfrm>
          <a:custGeom>
            <a:avLst/>
            <a:gdLst/>
            <a:ahLst/>
            <a:cxnLst/>
            <a:rect l="l" t="t" r="r" b="b"/>
            <a:pathLst>
              <a:path w="347" h="346" extrusionOk="0">
                <a:moveTo>
                  <a:pt x="288" y="115"/>
                </a:moveTo>
                <a:lnTo>
                  <a:pt x="283" y="115"/>
                </a:lnTo>
                <a:lnTo>
                  <a:pt x="283" y="85"/>
                </a:lnTo>
                <a:cubicBezTo>
                  <a:pt x="283" y="73"/>
                  <a:pt x="274" y="63"/>
                  <a:pt x="262" y="63"/>
                </a:cubicBezTo>
                <a:lnTo>
                  <a:pt x="232" y="63"/>
                </a:lnTo>
                <a:lnTo>
                  <a:pt x="232" y="59"/>
                </a:lnTo>
                <a:cubicBezTo>
                  <a:pt x="232" y="26"/>
                  <a:pt x="205" y="0"/>
                  <a:pt x="173" y="0"/>
                </a:cubicBezTo>
                <a:lnTo>
                  <a:pt x="173" y="0"/>
                </a:lnTo>
                <a:cubicBezTo>
                  <a:pt x="141" y="0"/>
                  <a:pt x="114" y="26"/>
                  <a:pt x="114" y="59"/>
                </a:cubicBezTo>
                <a:lnTo>
                  <a:pt x="114" y="63"/>
                </a:lnTo>
                <a:lnTo>
                  <a:pt x="85" y="63"/>
                </a:lnTo>
                <a:cubicBezTo>
                  <a:pt x="73" y="63"/>
                  <a:pt x="63" y="73"/>
                  <a:pt x="63" y="85"/>
                </a:cubicBezTo>
                <a:lnTo>
                  <a:pt x="63" y="115"/>
                </a:lnTo>
                <a:lnTo>
                  <a:pt x="58" y="115"/>
                </a:lnTo>
                <a:cubicBezTo>
                  <a:pt x="26" y="115"/>
                  <a:pt x="0" y="141"/>
                  <a:pt x="0" y="173"/>
                </a:cubicBezTo>
                <a:lnTo>
                  <a:pt x="0" y="173"/>
                </a:lnTo>
                <a:cubicBezTo>
                  <a:pt x="0" y="206"/>
                  <a:pt x="26" y="232"/>
                  <a:pt x="58" y="232"/>
                </a:cubicBezTo>
                <a:lnTo>
                  <a:pt x="63" y="232"/>
                </a:lnTo>
                <a:lnTo>
                  <a:pt x="63" y="262"/>
                </a:lnTo>
                <a:cubicBezTo>
                  <a:pt x="63" y="274"/>
                  <a:pt x="73" y="283"/>
                  <a:pt x="85" y="283"/>
                </a:cubicBezTo>
                <a:lnTo>
                  <a:pt x="114" y="283"/>
                </a:lnTo>
                <a:lnTo>
                  <a:pt x="114" y="287"/>
                </a:lnTo>
                <a:cubicBezTo>
                  <a:pt x="114" y="319"/>
                  <a:pt x="141" y="346"/>
                  <a:pt x="173" y="346"/>
                </a:cubicBezTo>
                <a:lnTo>
                  <a:pt x="173" y="346"/>
                </a:lnTo>
                <a:cubicBezTo>
                  <a:pt x="205" y="346"/>
                  <a:pt x="232" y="319"/>
                  <a:pt x="232" y="287"/>
                </a:cubicBezTo>
                <a:lnTo>
                  <a:pt x="232" y="283"/>
                </a:lnTo>
                <a:lnTo>
                  <a:pt x="262" y="283"/>
                </a:lnTo>
                <a:cubicBezTo>
                  <a:pt x="274" y="283"/>
                  <a:pt x="283" y="274"/>
                  <a:pt x="283" y="262"/>
                </a:cubicBezTo>
                <a:lnTo>
                  <a:pt x="283" y="232"/>
                </a:lnTo>
                <a:lnTo>
                  <a:pt x="288" y="232"/>
                </a:lnTo>
                <a:cubicBezTo>
                  <a:pt x="320" y="232"/>
                  <a:pt x="347" y="206"/>
                  <a:pt x="347" y="173"/>
                </a:cubicBezTo>
                <a:lnTo>
                  <a:pt x="347" y="173"/>
                </a:lnTo>
                <a:cubicBezTo>
                  <a:pt x="347" y="141"/>
                  <a:pt x="320" y="115"/>
                  <a:pt x="288" y="11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1" name="Google Shape;601;p42">
            <a:extLst>
              <a:ext uri="{FF2B5EF4-FFF2-40B4-BE49-F238E27FC236}">
                <a16:creationId xmlns:a16="http://schemas.microsoft.com/office/drawing/2014/main" id="{0B85F085-14D9-7EA4-24F6-A90F95D48582}"/>
              </a:ext>
            </a:extLst>
          </p:cNvPr>
          <p:cNvSpPr/>
          <p:nvPr/>
        </p:nvSpPr>
        <p:spPr>
          <a:xfrm>
            <a:off x="5054681" y="2551631"/>
            <a:ext cx="786675" cy="784375"/>
          </a:xfrm>
          <a:custGeom>
            <a:avLst/>
            <a:gdLst/>
            <a:ahLst/>
            <a:cxnLst/>
            <a:rect l="l" t="t" r="r" b="b"/>
            <a:pathLst>
              <a:path w="347" h="346" extrusionOk="0">
                <a:moveTo>
                  <a:pt x="288" y="115"/>
                </a:moveTo>
                <a:lnTo>
                  <a:pt x="283" y="115"/>
                </a:lnTo>
                <a:lnTo>
                  <a:pt x="283" y="85"/>
                </a:lnTo>
                <a:cubicBezTo>
                  <a:pt x="283" y="73"/>
                  <a:pt x="274" y="63"/>
                  <a:pt x="262" y="63"/>
                </a:cubicBezTo>
                <a:lnTo>
                  <a:pt x="232" y="63"/>
                </a:lnTo>
                <a:lnTo>
                  <a:pt x="232" y="59"/>
                </a:lnTo>
                <a:cubicBezTo>
                  <a:pt x="232" y="26"/>
                  <a:pt x="205" y="0"/>
                  <a:pt x="173" y="0"/>
                </a:cubicBezTo>
                <a:lnTo>
                  <a:pt x="173" y="0"/>
                </a:lnTo>
                <a:cubicBezTo>
                  <a:pt x="141" y="0"/>
                  <a:pt x="114" y="26"/>
                  <a:pt x="114" y="59"/>
                </a:cubicBezTo>
                <a:lnTo>
                  <a:pt x="114" y="63"/>
                </a:lnTo>
                <a:lnTo>
                  <a:pt x="85" y="63"/>
                </a:lnTo>
                <a:cubicBezTo>
                  <a:pt x="73" y="63"/>
                  <a:pt x="63" y="73"/>
                  <a:pt x="63" y="85"/>
                </a:cubicBezTo>
                <a:lnTo>
                  <a:pt x="63" y="115"/>
                </a:lnTo>
                <a:lnTo>
                  <a:pt x="58" y="115"/>
                </a:lnTo>
                <a:cubicBezTo>
                  <a:pt x="26" y="115"/>
                  <a:pt x="0" y="141"/>
                  <a:pt x="0" y="173"/>
                </a:cubicBezTo>
                <a:lnTo>
                  <a:pt x="0" y="173"/>
                </a:lnTo>
                <a:cubicBezTo>
                  <a:pt x="0" y="206"/>
                  <a:pt x="26" y="232"/>
                  <a:pt x="58" y="232"/>
                </a:cubicBezTo>
                <a:lnTo>
                  <a:pt x="63" y="232"/>
                </a:lnTo>
                <a:lnTo>
                  <a:pt x="63" y="262"/>
                </a:lnTo>
                <a:cubicBezTo>
                  <a:pt x="63" y="274"/>
                  <a:pt x="73" y="283"/>
                  <a:pt x="85" y="283"/>
                </a:cubicBezTo>
                <a:lnTo>
                  <a:pt x="114" y="283"/>
                </a:lnTo>
                <a:lnTo>
                  <a:pt x="114" y="287"/>
                </a:lnTo>
                <a:cubicBezTo>
                  <a:pt x="114" y="319"/>
                  <a:pt x="141" y="346"/>
                  <a:pt x="173" y="346"/>
                </a:cubicBezTo>
                <a:lnTo>
                  <a:pt x="173" y="346"/>
                </a:lnTo>
                <a:cubicBezTo>
                  <a:pt x="205" y="346"/>
                  <a:pt x="232" y="319"/>
                  <a:pt x="232" y="287"/>
                </a:cubicBezTo>
                <a:lnTo>
                  <a:pt x="232" y="283"/>
                </a:lnTo>
                <a:lnTo>
                  <a:pt x="262" y="283"/>
                </a:lnTo>
                <a:cubicBezTo>
                  <a:pt x="274" y="283"/>
                  <a:pt x="283" y="274"/>
                  <a:pt x="283" y="262"/>
                </a:cubicBezTo>
                <a:lnTo>
                  <a:pt x="283" y="232"/>
                </a:lnTo>
                <a:lnTo>
                  <a:pt x="288" y="232"/>
                </a:lnTo>
                <a:cubicBezTo>
                  <a:pt x="320" y="232"/>
                  <a:pt x="347" y="206"/>
                  <a:pt x="347" y="173"/>
                </a:cubicBezTo>
                <a:lnTo>
                  <a:pt x="347" y="173"/>
                </a:lnTo>
                <a:cubicBezTo>
                  <a:pt x="347" y="141"/>
                  <a:pt x="320" y="115"/>
                  <a:pt x="288" y="11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02" name="Google Shape;602;p42">
            <a:extLst>
              <a:ext uri="{FF2B5EF4-FFF2-40B4-BE49-F238E27FC236}">
                <a16:creationId xmlns:a16="http://schemas.microsoft.com/office/drawing/2014/main" id="{45FBA7A0-B39B-497E-CB2E-282A6C223F82}"/>
              </a:ext>
            </a:extLst>
          </p:cNvPr>
          <p:cNvSpPr/>
          <p:nvPr/>
        </p:nvSpPr>
        <p:spPr>
          <a:xfrm>
            <a:off x="5054681" y="3669156"/>
            <a:ext cx="786675" cy="784375"/>
          </a:xfrm>
          <a:custGeom>
            <a:avLst/>
            <a:gdLst/>
            <a:ahLst/>
            <a:cxnLst/>
            <a:rect l="l" t="t" r="r" b="b"/>
            <a:pathLst>
              <a:path w="347" h="346" extrusionOk="0">
                <a:moveTo>
                  <a:pt x="288" y="115"/>
                </a:moveTo>
                <a:lnTo>
                  <a:pt x="283" y="115"/>
                </a:lnTo>
                <a:lnTo>
                  <a:pt x="283" y="85"/>
                </a:lnTo>
                <a:cubicBezTo>
                  <a:pt x="283" y="73"/>
                  <a:pt x="274" y="63"/>
                  <a:pt x="262" y="63"/>
                </a:cubicBezTo>
                <a:lnTo>
                  <a:pt x="232" y="63"/>
                </a:lnTo>
                <a:lnTo>
                  <a:pt x="232" y="59"/>
                </a:lnTo>
                <a:cubicBezTo>
                  <a:pt x="232" y="26"/>
                  <a:pt x="205" y="0"/>
                  <a:pt x="173" y="0"/>
                </a:cubicBezTo>
                <a:lnTo>
                  <a:pt x="173" y="0"/>
                </a:lnTo>
                <a:cubicBezTo>
                  <a:pt x="141" y="0"/>
                  <a:pt x="114" y="26"/>
                  <a:pt x="114" y="59"/>
                </a:cubicBezTo>
                <a:lnTo>
                  <a:pt x="114" y="63"/>
                </a:lnTo>
                <a:lnTo>
                  <a:pt x="85" y="63"/>
                </a:lnTo>
                <a:cubicBezTo>
                  <a:pt x="73" y="63"/>
                  <a:pt x="63" y="73"/>
                  <a:pt x="63" y="85"/>
                </a:cubicBezTo>
                <a:lnTo>
                  <a:pt x="63" y="115"/>
                </a:lnTo>
                <a:lnTo>
                  <a:pt x="58" y="115"/>
                </a:lnTo>
                <a:cubicBezTo>
                  <a:pt x="26" y="115"/>
                  <a:pt x="0" y="141"/>
                  <a:pt x="0" y="173"/>
                </a:cubicBezTo>
                <a:lnTo>
                  <a:pt x="0" y="173"/>
                </a:lnTo>
                <a:cubicBezTo>
                  <a:pt x="0" y="206"/>
                  <a:pt x="26" y="232"/>
                  <a:pt x="58" y="232"/>
                </a:cubicBezTo>
                <a:lnTo>
                  <a:pt x="63" y="232"/>
                </a:lnTo>
                <a:lnTo>
                  <a:pt x="63" y="262"/>
                </a:lnTo>
                <a:cubicBezTo>
                  <a:pt x="63" y="274"/>
                  <a:pt x="73" y="283"/>
                  <a:pt x="85" y="283"/>
                </a:cubicBezTo>
                <a:lnTo>
                  <a:pt x="114" y="283"/>
                </a:lnTo>
                <a:lnTo>
                  <a:pt x="114" y="287"/>
                </a:lnTo>
                <a:cubicBezTo>
                  <a:pt x="114" y="319"/>
                  <a:pt x="141" y="346"/>
                  <a:pt x="173" y="346"/>
                </a:cubicBezTo>
                <a:lnTo>
                  <a:pt x="173" y="346"/>
                </a:lnTo>
                <a:cubicBezTo>
                  <a:pt x="205" y="346"/>
                  <a:pt x="232" y="319"/>
                  <a:pt x="232" y="287"/>
                </a:cubicBezTo>
                <a:lnTo>
                  <a:pt x="232" y="283"/>
                </a:lnTo>
                <a:lnTo>
                  <a:pt x="262" y="283"/>
                </a:lnTo>
                <a:cubicBezTo>
                  <a:pt x="274" y="283"/>
                  <a:pt x="283" y="274"/>
                  <a:pt x="283" y="262"/>
                </a:cubicBezTo>
                <a:lnTo>
                  <a:pt x="283" y="232"/>
                </a:lnTo>
                <a:lnTo>
                  <a:pt x="288" y="232"/>
                </a:lnTo>
                <a:cubicBezTo>
                  <a:pt x="320" y="232"/>
                  <a:pt x="347" y="206"/>
                  <a:pt x="347" y="173"/>
                </a:cubicBezTo>
                <a:lnTo>
                  <a:pt x="347" y="173"/>
                </a:lnTo>
                <a:cubicBezTo>
                  <a:pt x="347" y="141"/>
                  <a:pt x="320" y="115"/>
                  <a:pt x="288" y="115"/>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03" name="Google Shape;603;p42">
            <a:extLst>
              <a:ext uri="{FF2B5EF4-FFF2-40B4-BE49-F238E27FC236}">
                <a16:creationId xmlns:a16="http://schemas.microsoft.com/office/drawing/2014/main" id="{59CFD9F2-87B8-02CD-F747-F497422AE096}"/>
              </a:ext>
            </a:extLst>
          </p:cNvPr>
          <p:cNvGrpSpPr/>
          <p:nvPr/>
        </p:nvGrpSpPr>
        <p:grpSpPr>
          <a:xfrm>
            <a:off x="3554026" y="1686432"/>
            <a:ext cx="284028" cy="284023"/>
            <a:chOff x="-42994575" y="3950300"/>
            <a:chExt cx="319025" cy="317450"/>
          </a:xfrm>
        </p:grpSpPr>
        <p:sp>
          <p:nvSpPr>
            <p:cNvPr id="604" name="Google Shape;604;p42">
              <a:extLst>
                <a:ext uri="{FF2B5EF4-FFF2-40B4-BE49-F238E27FC236}">
                  <a16:creationId xmlns:a16="http://schemas.microsoft.com/office/drawing/2014/main" id="{6D1E0695-B860-FB3B-12D5-70A307D685CF}"/>
                </a:ext>
              </a:extLst>
            </p:cNvPr>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2">
              <a:extLst>
                <a:ext uri="{FF2B5EF4-FFF2-40B4-BE49-F238E27FC236}">
                  <a16:creationId xmlns:a16="http://schemas.microsoft.com/office/drawing/2014/main" id="{880F9CE0-B6F1-B1C1-9D8A-AF506BD3175E}"/>
                </a:ext>
              </a:extLst>
            </p:cNvPr>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2">
              <a:extLst>
                <a:ext uri="{FF2B5EF4-FFF2-40B4-BE49-F238E27FC236}">
                  <a16:creationId xmlns:a16="http://schemas.microsoft.com/office/drawing/2014/main" id="{B5337F2B-301B-AD2F-3FA7-3D1CF3605EC4}"/>
                </a:ext>
              </a:extLst>
            </p:cNvPr>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42">
            <a:extLst>
              <a:ext uri="{FF2B5EF4-FFF2-40B4-BE49-F238E27FC236}">
                <a16:creationId xmlns:a16="http://schemas.microsoft.com/office/drawing/2014/main" id="{BC726CEF-B251-8E52-2CFD-7F375690821D}"/>
              </a:ext>
            </a:extLst>
          </p:cNvPr>
          <p:cNvSpPr/>
          <p:nvPr/>
        </p:nvSpPr>
        <p:spPr>
          <a:xfrm>
            <a:off x="5313913" y="3923888"/>
            <a:ext cx="268211" cy="274912"/>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8" name="Google Shape;608;p42">
            <a:extLst>
              <a:ext uri="{FF2B5EF4-FFF2-40B4-BE49-F238E27FC236}">
                <a16:creationId xmlns:a16="http://schemas.microsoft.com/office/drawing/2014/main" id="{D9808E5D-CD40-C106-5873-E580222CF26C}"/>
              </a:ext>
            </a:extLst>
          </p:cNvPr>
          <p:cNvGrpSpPr/>
          <p:nvPr/>
        </p:nvGrpSpPr>
        <p:grpSpPr>
          <a:xfrm>
            <a:off x="5333637" y="2798378"/>
            <a:ext cx="228764" cy="290881"/>
            <a:chOff x="-37370925" y="3579105"/>
            <a:chExt cx="248900" cy="316450"/>
          </a:xfrm>
        </p:grpSpPr>
        <p:sp>
          <p:nvSpPr>
            <p:cNvPr id="609" name="Google Shape;609;p42">
              <a:extLst>
                <a:ext uri="{FF2B5EF4-FFF2-40B4-BE49-F238E27FC236}">
                  <a16:creationId xmlns:a16="http://schemas.microsoft.com/office/drawing/2014/main" id="{DD2230A3-BFEC-F5BB-DCA4-3627782C89C6}"/>
                </a:ext>
              </a:extLst>
            </p:cNvPr>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2">
              <a:extLst>
                <a:ext uri="{FF2B5EF4-FFF2-40B4-BE49-F238E27FC236}">
                  <a16:creationId xmlns:a16="http://schemas.microsoft.com/office/drawing/2014/main" id="{8043FA65-81E8-5F20-E366-CBFCF3377345}"/>
                </a:ext>
              </a:extLst>
            </p:cNvPr>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42">
            <a:extLst>
              <a:ext uri="{FF2B5EF4-FFF2-40B4-BE49-F238E27FC236}">
                <a16:creationId xmlns:a16="http://schemas.microsoft.com/office/drawing/2014/main" id="{726EEA8D-720E-4E25-AC58-9B0E3E1ECCF5}"/>
              </a:ext>
            </a:extLst>
          </p:cNvPr>
          <p:cNvGrpSpPr/>
          <p:nvPr/>
        </p:nvGrpSpPr>
        <p:grpSpPr>
          <a:xfrm>
            <a:off x="3556123" y="2800401"/>
            <a:ext cx="279830" cy="286835"/>
            <a:chOff x="-39647175" y="3972000"/>
            <a:chExt cx="313500" cy="317050"/>
          </a:xfrm>
        </p:grpSpPr>
        <p:sp>
          <p:nvSpPr>
            <p:cNvPr id="615" name="Google Shape;615;p42">
              <a:extLst>
                <a:ext uri="{FF2B5EF4-FFF2-40B4-BE49-F238E27FC236}">
                  <a16:creationId xmlns:a16="http://schemas.microsoft.com/office/drawing/2014/main" id="{0D3BB98B-3145-9659-E000-157BF0C2BB52}"/>
                </a:ext>
              </a:extLst>
            </p:cNvPr>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2">
              <a:extLst>
                <a:ext uri="{FF2B5EF4-FFF2-40B4-BE49-F238E27FC236}">
                  <a16:creationId xmlns:a16="http://schemas.microsoft.com/office/drawing/2014/main" id="{E780EBC7-0D76-B2EF-641A-92513934F063}"/>
                </a:ext>
              </a:extLst>
            </p:cNvPr>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2">
              <a:extLst>
                <a:ext uri="{FF2B5EF4-FFF2-40B4-BE49-F238E27FC236}">
                  <a16:creationId xmlns:a16="http://schemas.microsoft.com/office/drawing/2014/main" id="{46E893F4-52E3-E924-DACB-667E670BA01F}"/>
                </a:ext>
              </a:extLst>
            </p:cNvPr>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8" name="Google Shape;618;p42">
            <a:extLst>
              <a:ext uri="{FF2B5EF4-FFF2-40B4-BE49-F238E27FC236}">
                <a16:creationId xmlns:a16="http://schemas.microsoft.com/office/drawing/2014/main" id="{5D2FB73F-896A-CBE7-1E53-46560EFBEDCE}"/>
              </a:ext>
            </a:extLst>
          </p:cNvPr>
          <p:cNvSpPr/>
          <p:nvPr/>
        </p:nvSpPr>
        <p:spPr>
          <a:xfrm>
            <a:off x="5342184" y="1681589"/>
            <a:ext cx="211669" cy="293709"/>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6340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9359C231-C2A4-BB97-B34C-8723463050D0}"/>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7E38B33A-C0E1-864B-0805-CBAE17D8278D}"/>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Introduction</a:t>
            </a:r>
            <a:endParaRPr dirty="0"/>
          </a:p>
        </p:txBody>
      </p:sp>
      <p:sp>
        <p:nvSpPr>
          <p:cNvPr id="589" name="Google Shape;589;p42">
            <a:extLst>
              <a:ext uri="{FF2B5EF4-FFF2-40B4-BE49-F238E27FC236}">
                <a16:creationId xmlns:a16="http://schemas.microsoft.com/office/drawing/2014/main" id="{CA54DB12-6FFF-043E-EC1F-ABF75DD21413}"/>
              </a:ext>
            </a:extLst>
          </p:cNvPr>
          <p:cNvSpPr txBox="1"/>
          <p:nvPr/>
        </p:nvSpPr>
        <p:spPr>
          <a:xfrm>
            <a:off x="565484" y="1191126"/>
            <a:ext cx="8061158" cy="3583549"/>
          </a:xfrm>
          <a:prstGeom prst="rect">
            <a:avLst/>
          </a:prstGeom>
          <a:noFill/>
          <a:ln>
            <a:noFill/>
          </a:ln>
        </p:spPr>
        <p:txBody>
          <a:bodyPr spcFirstLastPara="1" wrap="square" lIns="91425" tIns="91425" rIns="91425" bIns="91425" anchor="b" anchorCtr="0">
            <a:noAutofit/>
          </a:bodyPr>
          <a:lstStyle/>
          <a:p>
            <a:r>
              <a:rPr lang="en-US" sz="1700" dirty="0">
                <a:latin typeface="El Messiri" panose="020B0604020202020204" charset="-78"/>
                <a:cs typeface="El Messiri" panose="020B0604020202020204" charset="-78"/>
              </a:rPr>
              <a:t>Automated detection of Personal Protective Equipment (PPE) has become increasingly important for maintaining safety in construction and industrial environments. Modern computer vision models such as YOLO offer fast and reliable detection, making them suitable for real-time monitoring through surveillance systems.</a:t>
            </a:r>
          </a:p>
          <a:p>
            <a:endParaRPr lang="en-US" sz="1700" b="1" dirty="0">
              <a:latin typeface="El Messiri" panose="020B0604020202020204" charset="-78"/>
              <a:cs typeface="El Messiri" panose="020B0604020202020204" charset="-78"/>
            </a:endParaRPr>
          </a:p>
          <a:p>
            <a:br>
              <a:rPr lang="en-US" sz="1700" dirty="0">
                <a:latin typeface="El Messiri" panose="020B0604020202020204" charset="-78"/>
                <a:cs typeface="El Messiri" panose="020B0604020202020204" charset="-78"/>
              </a:rPr>
            </a:br>
            <a:r>
              <a:rPr lang="en-US" sz="1700" dirty="0">
                <a:latin typeface="El Messiri" panose="020B0604020202020204" charset="-78"/>
                <a:cs typeface="El Messiri" panose="020B0604020202020204" charset="-78"/>
              </a:rPr>
              <a:t>To build effective PPE detection models, datasets must be prepared in a consistent and model-compatible format. This includes converting annotation formats, structuring image and label directories, and ensuring clean training/validation splits. Proper dataset preparation is the foundation for achieving accurate and stable model performance.</a:t>
            </a:r>
          </a:p>
          <a:p>
            <a:pPr marL="0" lvl="0" indent="0" rtl="0">
              <a:spcBef>
                <a:spcPts val="0"/>
              </a:spcBef>
              <a:spcAft>
                <a:spcPts val="0"/>
              </a:spcAft>
              <a:buNone/>
            </a:pPr>
            <a:endParaRPr sz="1600" b="1" dirty="0">
              <a:solidFill>
                <a:schemeClr val="dk1"/>
              </a:solidFill>
              <a:latin typeface="El Messiri"/>
              <a:ea typeface="El Messiri"/>
              <a:cs typeface="El Messiri"/>
              <a:sym typeface="El Messiri"/>
            </a:endParaRPr>
          </a:p>
        </p:txBody>
      </p:sp>
    </p:spTree>
    <p:extLst>
      <p:ext uri="{BB962C8B-B14F-4D97-AF65-F5344CB8AC3E}">
        <p14:creationId xmlns:p14="http://schemas.microsoft.com/office/powerpoint/2010/main" val="315282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par>
                                <p:cTn id="10" presetID="2" presetClass="entr" presetSubtype="4" fill="hold" grpId="0" nodeType="withEffect">
                                  <p:stCondLst>
                                    <p:cond delay="0"/>
                                  </p:stCondLst>
                                  <p:childTnLst>
                                    <p:set>
                                      <p:cBhvr>
                                        <p:cTn id="11" dur="1" fill="hold">
                                          <p:stCondLst>
                                            <p:cond delay="0"/>
                                          </p:stCondLst>
                                        </p:cTn>
                                        <p:tgtEl>
                                          <p:spTgt spid="589"/>
                                        </p:tgtEl>
                                        <p:attrNameLst>
                                          <p:attrName>style.visibility</p:attrName>
                                        </p:attrNameLst>
                                      </p:cBhvr>
                                      <p:to>
                                        <p:strVal val="visible"/>
                                      </p:to>
                                    </p:set>
                                    <p:anim calcmode="lin" valueType="num">
                                      <p:cBhvr additive="base">
                                        <p:cTn id="12" dur="500" fill="hold"/>
                                        <p:tgtEl>
                                          <p:spTgt spid="589"/>
                                        </p:tgtEl>
                                        <p:attrNameLst>
                                          <p:attrName>ppt_x</p:attrName>
                                        </p:attrNameLst>
                                      </p:cBhvr>
                                      <p:tavLst>
                                        <p:tav tm="0">
                                          <p:val>
                                            <p:strVal val="#ppt_x"/>
                                          </p:val>
                                        </p:tav>
                                        <p:tav tm="100000">
                                          <p:val>
                                            <p:strVal val="#ppt_x"/>
                                          </p:val>
                                        </p:tav>
                                      </p:tavLst>
                                    </p:anim>
                                    <p:anim calcmode="lin" valueType="num">
                                      <p:cBhvr additive="base">
                                        <p:cTn id="13" dur="500" fill="hold"/>
                                        <p:tgtEl>
                                          <p:spTgt spid="5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P spid="58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B6867051-806F-5F36-93C5-A355F2C1943B}"/>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91C89A8C-B642-3F07-3E5E-F5789D48442E}"/>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Problem Statement</a:t>
            </a:r>
            <a:endParaRPr dirty="0"/>
          </a:p>
        </p:txBody>
      </p:sp>
      <p:sp>
        <p:nvSpPr>
          <p:cNvPr id="3" name="Rectangle 1">
            <a:extLst>
              <a:ext uri="{FF2B5EF4-FFF2-40B4-BE49-F238E27FC236}">
                <a16:creationId xmlns:a16="http://schemas.microsoft.com/office/drawing/2014/main" id="{1FACBB52-F6ED-275A-D134-6A650E2AE899}"/>
              </a:ext>
            </a:extLst>
          </p:cNvPr>
          <p:cNvSpPr>
            <a:spLocks noChangeArrowheads="1"/>
          </p:cNvSpPr>
          <p:nvPr/>
        </p:nvSpPr>
        <p:spPr bwMode="auto">
          <a:xfrm>
            <a:off x="1600200" y="10239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Google Shape;589;p42">
            <a:extLst>
              <a:ext uri="{FF2B5EF4-FFF2-40B4-BE49-F238E27FC236}">
                <a16:creationId xmlns:a16="http://schemas.microsoft.com/office/drawing/2014/main" id="{E3C2F25D-CA1D-395F-CEE1-278CACFADAD0}"/>
              </a:ext>
            </a:extLst>
          </p:cNvPr>
          <p:cNvSpPr txBox="1"/>
          <p:nvPr/>
        </p:nvSpPr>
        <p:spPr>
          <a:xfrm>
            <a:off x="565484" y="1191127"/>
            <a:ext cx="8061158" cy="3176336"/>
          </a:xfrm>
          <a:prstGeom prst="rect">
            <a:avLst/>
          </a:prstGeom>
          <a:noFill/>
          <a:ln>
            <a:noFill/>
          </a:ln>
        </p:spPr>
        <p:txBody>
          <a:bodyPr spcFirstLastPara="1" wrap="square" lIns="91425" tIns="91425" rIns="91425" bIns="91425" anchor="b" anchorCtr="0">
            <a:noAutofit/>
          </a:bodyPr>
          <a:lstStyle/>
          <a:p>
            <a:r>
              <a:rPr lang="en-US" sz="1700" dirty="0">
                <a:latin typeface="El Messiri" panose="020B0604020202020204" charset="-78"/>
                <a:cs typeface="El Messiri" panose="020B0604020202020204" charset="-78"/>
              </a:rPr>
              <a:t>Most available PPE datasets use XML annotations, which are not directly compatible with YOLO’s required input format. This creates a barrier for researchers and developers who want to train YOLO-based models efficiently.</a:t>
            </a:r>
          </a:p>
          <a:p>
            <a:endParaRPr lang="en-US" sz="1700" dirty="0">
              <a:latin typeface="El Messiri" panose="020B0604020202020204" charset="-78"/>
              <a:cs typeface="El Messiri" panose="020B0604020202020204" charset="-78"/>
            </a:endParaRPr>
          </a:p>
          <a:p>
            <a:br>
              <a:rPr lang="en-US" sz="1700" dirty="0">
                <a:latin typeface="El Messiri" panose="020B0604020202020204" charset="-78"/>
                <a:cs typeface="El Messiri" panose="020B0604020202020204" charset="-78"/>
              </a:rPr>
            </a:br>
            <a:r>
              <a:rPr lang="en-US" sz="1700" dirty="0">
                <a:latin typeface="El Messiri" panose="020B0604020202020204" charset="-78"/>
                <a:cs typeface="El Messiri" panose="020B0604020202020204" charset="-78"/>
              </a:rPr>
              <a:t>Furthermore, existing datasets often contain inconsistencies in class naming, annotation structure, and folder organization. Without transforming and standardizing these datasets, model training becomes unreliable, and evaluation results become inaccurate, limiting the real-world applicability of PPE detection systems.</a:t>
            </a:r>
          </a:p>
          <a:p>
            <a:pPr marL="0" lvl="0" indent="0" rtl="0">
              <a:spcBef>
                <a:spcPts val="0"/>
              </a:spcBef>
              <a:spcAft>
                <a:spcPts val="0"/>
              </a:spcAft>
              <a:buNone/>
            </a:pPr>
            <a:endParaRPr sz="1600" b="1" dirty="0">
              <a:solidFill>
                <a:schemeClr val="dk1"/>
              </a:solidFill>
              <a:latin typeface="El Messiri"/>
              <a:ea typeface="El Messiri"/>
              <a:cs typeface="El Messiri"/>
              <a:sym typeface="El Messiri"/>
            </a:endParaRPr>
          </a:p>
        </p:txBody>
      </p:sp>
    </p:spTree>
    <p:extLst>
      <p:ext uri="{BB962C8B-B14F-4D97-AF65-F5344CB8AC3E}">
        <p14:creationId xmlns:p14="http://schemas.microsoft.com/office/powerpoint/2010/main" val="332933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par>
                                <p:cTn id="10" presetID="2" presetClass="entr" presetSubtype="4" fill="hold" grpId="0" nodeType="withEffect">
                                  <p:stCondLst>
                                    <p:cond delay="15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6C44AD26-DAC5-7B28-58A0-B66B99F3F332}"/>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7CF68190-A2D7-7EFD-8866-930A5A5D016E}"/>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Dataset overview</a:t>
            </a:r>
            <a:endParaRPr dirty="0"/>
          </a:p>
        </p:txBody>
      </p:sp>
      <p:sp>
        <p:nvSpPr>
          <p:cNvPr id="3" name="Rectangle 1">
            <a:extLst>
              <a:ext uri="{FF2B5EF4-FFF2-40B4-BE49-F238E27FC236}">
                <a16:creationId xmlns:a16="http://schemas.microsoft.com/office/drawing/2014/main" id="{C6406F46-8F39-F1AD-4140-0BCC49B633DE}"/>
              </a:ext>
            </a:extLst>
          </p:cNvPr>
          <p:cNvSpPr>
            <a:spLocks noChangeArrowheads="1"/>
          </p:cNvSpPr>
          <p:nvPr/>
        </p:nvSpPr>
        <p:spPr bwMode="auto">
          <a:xfrm>
            <a:off x="1600200" y="10239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descr="A group of men wearing hard hats&#10;&#10;AI-generated content may be incorrect.">
            <a:extLst>
              <a:ext uri="{FF2B5EF4-FFF2-40B4-BE49-F238E27FC236}">
                <a16:creationId xmlns:a16="http://schemas.microsoft.com/office/drawing/2014/main" id="{F9EF509A-1473-F45F-F48E-A79653D128B0}"/>
              </a:ext>
            </a:extLst>
          </p:cNvPr>
          <p:cNvPicPr>
            <a:picLocks noChangeAspect="1"/>
          </p:cNvPicPr>
          <p:nvPr/>
        </p:nvPicPr>
        <p:blipFill>
          <a:blip r:embed="rId3"/>
          <a:stretch>
            <a:fillRect/>
          </a:stretch>
        </p:blipFill>
        <p:spPr>
          <a:xfrm>
            <a:off x="720000" y="1522751"/>
            <a:ext cx="3242511" cy="2158586"/>
          </a:xfrm>
          <a:prstGeom prst="rect">
            <a:avLst/>
          </a:prstGeom>
        </p:spPr>
      </p:pic>
      <p:pic>
        <p:nvPicPr>
          <p:cNvPr id="9" name="Picture 8" descr="A room with rows of chairs&#10;&#10;AI-generated content may be incorrect.">
            <a:extLst>
              <a:ext uri="{FF2B5EF4-FFF2-40B4-BE49-F238E27FC236}">
                <a16:creationId xmlns:a16="http://schemas.microsoft.com/office/drawing/2014/main" id="{57864907-E937-CA90-5590-D9CCB545400C}"/>
              </a:ext>
            </a:extLst>
          </p:cNvPr>
          <p:cNvPicPr>
            <a:picLocks noChangeAspect="1"/>
          </p:cNvPicPr>
          <p:nvPr/>
        </p:nvPicPr>
        <p:blipFill>
          <a:blip r:embed="rId4"/>
          <a:stretch>
            <a:fillRect/>
          </a:stretch>
        </p:blipFill>
        <p:spPr>
          <a:xfrm>
            <a:off x="4378567" y="1481138"/>
            <a:ext cx="4205867" cy="2368967"/>
          </a:xfrm>
          <a:prstGeom prst="rect">
            <a:avLst/>
          </a:prstGeom>
        </p:spPr>
      </p:pic>
    </p:spTree>
    <p:extLst>
      <p:ext uri="{BB962C8B-B14F-4D97-AF65-F5344CB8AC3E}">
        <p14:creationId xmlns:p14="http://schemas.microsoft.com/office/powerpoint/2010/main" val="408750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121921B5-F707-2019-358F-05316684E61E}"/>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6843208E-9F08-E6ED-3C1F-96C3223240CE}"/>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Model Architecture</a:t>
            </a:r>
            <a:endParaRPr dirty="0"/>
          </a:p>
        </p:txBody>
      </p:sp>
      <p:sp>
        <p:nvSpPr>
          <p:cNvPr id="2" name="AutoShape 2" descr="Generated image">
            <a:extLst>
              <a:ext uri="{FF2B5EF4-FFF2-40B4-BE49-F238E27FC236}">
                <a16:creationId xmlns:a16="http://schemas.microsoft.com/office/drawing/2014/main" id="{4AA9282C-2375-D1ED-066B-66397FF5B457}"/>
              </a:ext>
            </a:extLst>
          </p:cNvPr>
          <p:cNvSpPr>
            <a:spLocks noChangeAspect="1" noChangeArrowheads="1"/>
          </p:cNvSpPr>
          <p:nvPr/>
        </p:nvSpPr>
        <p:spPr bwMode="auto">
          <a:xfrm>
            <a:off x="4419600" y="2419350"/>
            <a:ext cx="304800" cy="304800"/>
          </a:xfrm>
          <a:prstGeom prst="rect">
            <a:avLst/>
          </a:prstGeom>
          <a:solidFill>
            <a:schemeClr val="accent1">
              <a:lumMod val="40000"/>
              <a:lumOff val="60000"/>
            </a:schemeClr>
          </a:solidFill>
        </p:spPr>
        <p:txBody>
          <a:bodyPr vert="horz" wrap="square" lIns="91440" tIns="45720" rIns="91440" bIns="45720" numCol="1" anchor="t" anchorCtr="0" compatLnSpc="1">
            <a:prstTxWarp prst="textNoShape">
              <a:avLst/>
            </a:prstTxWarp>
          </a:bodyPr>
          <a:lstStyle/>
          <a:p>
            <a:endParaRPr lang="en-US"/>
          </a:p>
        </p:txBody>
      </p:sp>
      <p:sp>
        <p:nvSpPr>
          <p:cNvPr id="5" name="Rectangle: Rounded Corners 4">
            <a:extLst>
              <a:ext uri="{FF2B5EF4-FFF2-40B4-BE49-F238E27FC236}">
                <a16:creationId xmlns:a16="http://schemas.microsoft.com/office/drawing/2014/main" id="{D5E5E39A-4829-846E-09ED-C71F5BFA89DC}"/>
              </a:ext>
            </a:extLst>
          </p:cNvPr>
          <p:cNvSpPr/>
          <p:nvPr/>
        </p:nvSpPr>
        <p:spPr>
          <a:xfrm>
            <a:off x="565484" y="1649746"/>
            <a:ext cx="1828800" cy="89078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3312CA66-FB51-67B8-B836-13EA6BB91C9F}"/>
              </a:ext>
            </a:extLst>
          </p:cNvPr>
          <p:cNvSpPr/>
          <p:nvPr/>
        </p:nvSpPr>
        <p:spPr>
          <a:xfrm>
            <a:off x="2923673" y="1466125"/>
            <a:ext cx="2562726" cy="1258026"/>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649D6BFD-C83D-92B2-AC9B-E083D29D2B54}"/>
              </a:ext>
            </a:extLst>
          </p:cNvPr>
          <p:cNvSpPr/>
          <p:nvPr/>
        </p:nvSpPr>
        <p:spPr>
          <a:xfrm>
            <a:off x="6136105" y="1723353"/>
            <a:ext cx="2225844" cy="806007"/>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C744792-C478-31CA-5280-1784AC2DBD0A}"/>
              </a:ext>
            </a:extLst>
          </p:cNvPr>
          <p:cNvSpPr/>
          <p:nvPr/>
        </p:nvSpPr>
        <p:spPr>
          <a:xfrm>
            <a:off x="6226343" y="3365833"/>
            <a:ext cx="2045368" cy="806007"/>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6ADB41DF-DB9D-2AA1-C5E1-E622C36E06AD}"/>
              </a:ext>
            </a:extLst>
          </p:cNvPr>
          <p:cNvSpPr/>
          <p:nvPr/>
        </p:nvSpPr>
        <p:spPr>
          <a:xfrm>
            <a:off x="3182352" y="3119475"/>
            <a:ext cx="2045368" cy="125802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1B90F95-B4F3-8761-EFCF-5B4CEB950581}"/>
              </a:ext>
            </a:extLst>
          </p:cNvPr>
          <p:cNvSpPr txBox="1"/>
          <p:nvPr/>
        </p:nvSpPr>
        <p:spPr>
          <a:xfrm>
            <a:off x="642742" y="1757025"/>
            <a:ext cx="1674284" cy="738664"/>
          </a:xfrm>
          <a:prstGeom prst="rect">
            <a:avLst/>
          </a:prstGeom>
          <a:noFill/>
        </p:spPr>
        <p:txBody>
          <a:bodyPr wrap="square" rtlCol="0">
            <a:spAutoFit/>
          </a:bodyPr>
          <a:lstStyle/>
          <a:p>
            <a:r>
              <a:rPr lang="en-US" b="1" dirty="0"/>
              <a:t>Raw VOC dataset</a:t>
            </a:r>
          </a:p>
          <a:p>
            <a:pPr algn="ctr"/>
            <a:r>
              <a:rPr lang="en-US" dirty="0"/>
              <a:t>Images + XML Labels</a:t>
            </a:r>
          </a:p>
        </p:txBody>
      </p:sp>
      <p:sp>
        <p:nvSpPr>
          <p:cNvPr id="11" name="TextBox 10">
            <a:extLst>
              <a:ext uri="{FF2B5EF4-FFF2-40B4-BE49-F238E27FC236}">
                <a16:creationId xmlns:a16="http://schemas.microsoft.com/office/drawing/2014/main" id="{A78CD020-FEAB-D6DE-8D57-8615DEF27771}"/>
              </a:ext>
            </a:extLst>
          </p:cNvPr>
          <p:cNvSpPr txBox="1"/>
          <p:nvPr/>
        </p:nvSpPr>
        <p:spPr>
          <a:xfrm>
            <a:off x="3007895" y="1466124"/>
            <a:ext cx="2460347" cy="1169551"/>
          </a:xfrm>
          <a:prstGeom prst="rect">
            <a:avLst/>
          </a:prstGeom>
          <a:noFill/>
        </p:spPr>
        <p:txBody>
          <a:bodyPr wrap="square" rtlCol="0">
            <a:spAutoFit/>
          </a:bodyPr>
          <a:lstStyle/>
          <a:p>
            <a:r>
              <a:rPr lang="en-US" b="1" dirty="0"/>
              <a:t>Preprocessing Conversion</a:t>
            </a:r>
          </a:p>
          <a:p>
            <a:pPr marL="285750" indent="-285750">
              <a:buFontTx/>
              <a:buChar char="-"/>
            </a:pPr>
            <a:r>
              <a:rPr lang="en-US" dirty="0"/>
              <a:t>XML to YOLO TXT</a:t>
            </a:r>
          </a:p>
          <a:p>
            <a:pPr marL="285750" indent="-285750">
              <a:buFontTx/>
              <a:buChar char="-"/>
            </a:pPr>
            <a:r>
              <a:rPr lang="en-US" dirty="0"/>
              <a:t>Normalize </a:t>
            </a:r>
            <a:r>
              <a:rPr lang="en-US" dirty="0" err="1"/>
              <a:t>bbox</a:t>
            </a:r>
            <a:endParaRPr lang="en-US" dirty="0"/>
          </a:p>
          <a:p>
            <a:pPr marL="285750" indent="-285750">
              <a:buFontTx/>
              <a:buChar char="-"/>
            </a:pPr>
            <a:r>
              <a:rPr lang="en-US" dirty="0"/>
              <a:t>Create train/</a:t>
            </a:r>
            <a:r>
              <a:rPr lang="en-US" dirty="0" err="1"/>
              <a:t>val</a:t>
            </a:r>
            <a:r>
              <a:rPr lang="en-US" dirty="0"/>
              <a:t> split</a:t>
            </a:r>
          </a:p>
          <a:p>
            <a:pPr marL="285750" indent="-285750">
              <a:buFontTx/>
              <a:buChar char="-"/>
            </a:pPr>
            <a:r>
              <a:rPr lang="en-US" dirty="0"/>
              <a:t>Generate Data .</a:t>
            </a:r>
            <a:r>
              <a:rPr lang="en-US" dirty="0" err="1"/>
              <a:t>yml</a:t>
            </a:r>
            <a:endParaRPr lang="en-US" dirty="0"/>
          </a:p>
        </p:txBody>
      </p:sp>
      <p:sp>
        <p:nvSpPr>
          <p:cNvPr id="12" name="TextBox 11">
            <a:extLst>
              <a:ext uri="{FF2B5EF4-FFF2-40B4-BE49-F238E27FC236}">
                <a16:creationId xmlns:a16="http://schemas.microsoft.com/office/drawing/2014/main" id="{D8B230E6-450D-62C0-8E1A-6EEFE04EC536}"/>
              </a:ext>
            </a:extLst>
          </p:cNvPr>
          <p:cNvSpPr txBox="1"/>
          <p:nvPr/>
        </p:nvSpPr>
        <p:spPr>
          <a:xfrm>
            <a:off x="6198156" y="1726190"/>
            <a:ext cx="2225844" cy="738664"/>
          </a:xfrm>
          <a:prstGeom prst="rect">
            <a:avLst/>
          </a:prstGeom>
          <a:noFill/>
        </p:spPr>
        <p:txBody>
          <a:bodyPr wrap="square" rtlCol="0">
            <a:spAutoFit/>
          </a:bodyPr>
          <a:lstStyle/>
          <a:p>
            <a:r>
              <a:rPr lang="en-US" b="1" dirty="0"/>
              <a:t>YOLO Ready Dataset</a:t>
            </a:r>
          </a:p>
          <a:p>
            <a:r>
              <a:rPr lang="en-US" dirty="0"/>
              <a:t>Train/images, Train/label</a:t>
            </a:r>
          </a:p>
          <a:p>
            <a:r>
              <a:rPr lang="en-US" dirty="0"/>
              <a:t>Val/images, Val/label</a:t>
            </a:r>
          </a:p>
        </p:txBody>
      </p:sp>
      <p:sp>
        <p:nvSpPr>
          <p:cNvPr id="13" name="TextBox 12">
            <a:extLst>
              <a:ext uri="{FF2B5EF4-FFF2-40B4-BE49-F238E27FC236}">
                <a16:creationId xmlns:a16="http://schemas.microsoft.com/office/drawing/2014/main" id="{FFD36628-358D-32D7-06CA-145426DADDE1}"/>
              </a:ext>
            </a:extLst>
          </p:cNvPr>
          <p:cNvSpPr txBox="1"/>
          <p:nvPr/>
        </p:nvSpPr>
        <p:spPr>
          <a:xfrm>
            <a:off x="6358690" y="3507225"/>
            <a:ext cx="2225844" cy="523220"/>
          </a:xfrm>
          <a:prstGeom prst="rect">
            <a:avLst/>
          </a:prstGeom>
          <a:noFill/>
        </p:spPr>
        <p:txBody>
          <a:bodyPr wrap="square" rtlCol="0">
            <a:spAutoFit/>
          </a:bodyPr>
          <a:lstStyle/>
          <a:p>
            <a:r>
              <a:rPr lang="en-US" b="1" dirty="0"/>
              <a:t>YOLO Training</a:t>
            </a:r>
          </a:p>
          <a:p>
            <a:r>
              <a:rPr lang="en-US" dirty="0"/>
              <a:t>Best.pt model weights </a:t>
            </a:r>
          </a:p>
        </p:txBody>
      </p:sp>
      <p:sp>
        <p:nvSpPr>
          <p:cNvPr id="14" name="TextBox 13">
            <a:extLst>
              <a:ext uri="{FF2B5EF4-FFF2-40B4-BE49-F238E27FC236}">
                <a16:creationId xmlns:a16="http://schemas.microsoft.com/office/drawing/2014/main" id="{3E6392E2-7A77-97E4-5949-14F974130C9E}"/>
              </a:ext>
            </a:extLst>
          </p:cNvPr>
          <p:cNvSpPr txBox="1"/>
          <p:nvPr/>
        </p:nvSpPr>
        <p:spPr>
          <a:xfrm>
            <a:off x="3182352" y="3140528"/>
            <a:ext cx="2045368" cy="1600438"/>
          </a:xfrm>
          <a:prstGeom prst="rect">
            <a:avLst/>
          </a:prstGeom>
          <a:noFill/>
        </p:spPr>
        <p:txBody>
          <a:bodyPr wrap="square" rtlCol="0">
            <a:spAutoFit/>
          </a:bodyPr>
          <a:lstStyle/>
          <a:p>
            <a:pPr algn="ctr"/>
            <a:r>
              <a:rPr lang="en-US" b="1" dirty="0"/>
              <a:t>Model Evaluation</a:t>
            </a:r>
          </a:p>
          <a:p>
            <a:pPr marL="285750" indent="-285750">
              <a:buFontTx/>
              <a:buChar char="-"/>
            </a:pPr>
            <a:r>
              <a:rPr lang="en-US" dirty="0"/>
              <a:t>mAP50</a:t>
            </a:r>
          </a:p>
          <a:p>
            <a:pPr marL="285750" indent="-285750">
              <a:buFontTx/>
              <a:buChar char="-"/>
            </a:pPr>
            <a:r>
              <a:rPr lang="en-US" dirty="0"/>
              <a:t>mAP50-95</a:t>
            </a:r>
          </a:p>
          <a:p>
            <a:pPr marL="285750" indent="-285750">
              <a:buFontTx/>
              <a:buChar char="-"/>
            </a:pPr>
            <a:r>
              <a:rPr lang="en-US" dirty="0"/>
              <a:t>Precision</a:t>
            </a:r>
          </a:p>
          <a:p>
            <a:pPr marL="285750" indent="-285750">
              <a:buFontTx/>
              <a:buChar char="-"/>
            </a:pPr>
            <a:r>
              <a:rPr lang="en-US" dirty="0"/>
              <a:t>Accuracy </a:t>
            </a:r>
          </a:p>
          <a:p>
            <a:pPr marL="285750" indent="-285750">
              <a:buFontTx/>
              <a:buChar char="-"/>
            </a:pPr>
            <a:endParaRPr lang="en-US" dirty="0"/>
          </a:p>
          <a:p>
            <a:pPr marL="285750" indent="-285750">
              <a:buFontTx/>
              <a:buChar char="-"/>
            </a:pPr>
            <a:endParaRPr lang="en-US" dirty="0"/>
          </a:p>
        </p:txBody>
      </p:sp>
      <p:cxnSp>
        <p:nvCxnSpPr>
          <p:cNvPr id="20" name="Straight Arrow Connector 19">
            <a:extLst>
              <a:ext uri="{FF2B5EF4-FFF2-40B4-BE49-F238E27FC236}">
                <a16:creationId xmlns:a16="http://schemas.microsoft.com/office/drawing/2014/main" id="{F1FCD91B-EE2E-0F0A-3876-8CCAF03F4B28}"/>
              </a:ext>
            </a:extLst>
          </p:cNvPr>
          <p:cNvCxnSpPr>
            <a:stCxn id="5" idx="3"/>
            <a:endCxn id="6" idx="1"/>
          </p:cNvCxnSpPr>
          <p:nvPr/>
        </p:nvCxnSpPr>
        <p:spPr>
          <a:xfrm>
            <a:off x="2394284" y="2095138"/>
            <a:ext cx="52938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a:extLst>
              <a:ext uri="{FF2B5EF4-FFF2-40B4-BE49-F238E27FC236}">
                <a16:creationId xmlns:a16="http://schemas.microsoft.com/office/drawing/2014/main" id="{78FAA778-2008-5ECE-F108-99F70CA582F3}"/>
              </a:ext>
            </a:extLst>
          </p:cNvPr>
          <p:cNvCxnSpPr>
            <a:stCxn id="7" idx="2"/>
            <a:endCxn id="8" idx="0"/>
          </p:cNvCxnSpPr>
          <p:nvPr/>
        </p:nvCxnSpPr>
        <p:spPr>
          <a:xfrm>
            <a:off x="7249027" y="2529360"/>
            <a:ext cx="0" cy="83647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Straight Arrow Connector 31">
            <a:extLst>
              <a:ext uri="{FF2B5EF4-FFF2-40B4-BE49-F238E27FC236}">
                <a16:creationId xmlns:a16="http://schemas.microsoft.com/office/drawing/2014/main" id="{9A447BCE-B444-9A13-26D9-71AD7A27D907}"/>
              </a:ext>
            </a:extLst>
          </p:cNvPr>
          <p:cNvCxnSpPr>
            <a:stCxn id="8" idx="1"/>
          </p:cNvCxnSpPr>
          <p:nvPr/>
        </p:nvCxnSpPr>
        <p:spPr>
          <a:xfrm flipH="1" flipV="1">
            <a:off x="5227720" y="3768835"/>
            <a:ext cx="998623" cy="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Straight Arrow Connector 33">
            <a:extLst>
              <a:ext uri="{FF2B5EF4-FFF2-40B4-BE49-F238E27FC236}">
                <a16:creationId xmlns:a16="http://schemas.microsoft.com/office/drawing/2014/main" id="{BB04F6B2-CB23-9845-BEC1-799F4AFF8F6E}"/>
              </a:ext>
            </a:extLst>
          </p:cNvPr>
          <p:cNvCxnSpPr>
            <a:cxnSpLocks/>
            <a:stCxn id="6" idx="3"/>
          </p:cNvCxnSpPr>
          <p:nvPr/>
        </p:nvCxnSpPr>
        <p:spPr>
          <a:xfrm flipV="1">
            <a:off x="5486399" y="2095137"/>
            <a:ext cx="649706"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33429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EDA83738-202C-E4C5-01C0-7D72A5D3C51A}"/>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D4825102-2023-2447-241F-AAFBEA150AE0}"/>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Results</a:t>
            </a:r>
            <a:endParaRPr dirty="0"/>
          </a:p>
        </p:txBody>
      </p:sp>
      <p:pic>
        <p:nvPicPr>
          <p:cNvPr id="3" name="Picture 2" descr="A graph of a graph&#10;&#10;AI-generated content may be incorrect.">
            <a:extLst>
              <a:ext uri="{FF2B5EF4-FFF2-40B4-BE49-F238E27FC236}">
                <a16:creationId xmlns:a16="http://schemas.microsoft.com/office/drawing/2014/main" id="{F5CD516F-98CC-9510-08EF-347033D78F2B}"/>
              </a:ext>
            </a:extLst>
          </p:cNvPr>
          <p:cNvPicPr>
            <a:picLocks noChangeAspect="1"/>
          </p:cNvPicPr>
          <p:nvPr/>
        </p:nvPicPr>
        <p:blipFill>
          <a:blip r:embed="rId3"/>
          <a:stretch>
            <a:fillRect/>
          </a:stretch>
        </p:blipFill>
        <p:spPr>
          <a:xfrm>
            <a:off x="854242" y="982325"/>
            <a:ext cx="7435516" cy="3717758"/>
          </a:xfrm>
          <a:prstGeom prst="rect">
            <a:avLst/>
          </a:prstGeom>
        </p:spPr>
      </p:pic>
    </p:spTree>
    <p:extLst>
      <p:ext uri="{BB962C8B-B14F-4D97-AF65-F5344CB8AC3E}">
        <p14:creationId xmlns:p14="http://schemas.microsoft.com/office/powerpoint/2010/main" val="1835102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3ACE0EF0-6B91-ED83-A236-8108C9127B27}"/>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6BC537C0-3147-FDF5-1F02-2B7B0EAD08DE}"/>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Results</a:t>
            </a:r>
            <a:endParaRPr dirty="0"/>
          </a:p>
        </p:txBody>
      </p:sp>
      <p:graphicFrame>
        <p:nvGraphicFramePr>
          <p:cNvPr id="2" name="Table 1">
            <a:extLst>
              <a:ext uri="{FF2B5EF4-FFF2-40B4-BE49-F238E27FC236}">
                <a16:creationId xmlns:a16="http://schemas.microsoft.com/office/drawing/2014/main" id="{DFBDA8BC-0BFC-D4B1-B6D8-D77CA8BB39F7}"/>
              </a:ext>
            </a:extLst>
          </p:cNvPr>
          <p:cNvGraphicFramePr>
            <a:graphicFrameLocks noGrp="1"/>
          </p:cNvGraphicFramePr>
          <p:nvPr/>
        </p:nvGraphicFramePr>
        <p:xfrm>
          <a:off x="1070811" y="1118937"/>
          <a:ext cx="7230978" cy="3478082"/>
        </p:xfrm>
        <a:graphic>
          <a:graphicData uri="http://schemas.openxmlformats.org/drawingml/2006/table">
            <a:tbl>
              <a:tblPr/>
              <a:tblGrid>
                <a:gridCol w="1807745">
                  <a:extLst>
                    <a:ext uri="{9D8B030D-6E8A-4147-A177-3AD203B41FA5}">
                      <a16:colId xmlns:a16="http://schemas.microsoft.com/office/drawing/2014/main" val="2505715359"/>
                    </a:ext>
                  </a:extLst>
                </a:gridCol>
                <a:gridCol w="1135634">
                  <a:extLst>
                    <a:ext uri="{9D8B030D-6E8A-4147-A177-3AD203B41FA5}">
                      <a16:colId xmlns:a16="http://schemas.microsoft.com/office/drawing/2014/main" val="961167605"/>
                    </a:ext>
                  </a:extLst>
                </a:gridCol>
                <a:gridCol w="1321044">
                  <a:extLst>
                    <a:ext uri="{9D8B030D-6E8A-4147-A177-3AD203B41FA5}">
                      <a16:colId xmlns:a16="http://schemas.microsoft.com/office/drawing/2014/main" val="4189047479"/>
                    </a:ext>
                  </a:extLst>
                </a:gridCol>
                <a:gridCol w="2966555">
                  <a:extLst>
                    <a:ext uri="{9D8B030D-6E8A-4147-A177-3AD203B41FA5}">
                      <a16:colId xmlns:a16="http://schemas.microsoft.com/office/drawing/2014/main" val="2808523815"/>
                    </a:ext>
                  </a:extLst>
                </a:gridCol>
              </a:tblGrid>
              <a:tr h="565500">
                <a:tc>
                  <a:txBody>
                    <a:bodyPr/>
                    <a:lstStyle/>
                    <a:p>
                      <a:pPr rtl="0" fontAlgn="t">
                        <a:spcBef>
                          <a:spcPts val="600"/>
                        </a:spcBef>
                        <a:spcAft>
                          <a:spcPts val="600"/>
                        </a:spcAft>
                        <a:buNone/>
                      </a:pPr>
                      <a:r>
                        <a:rPr lang="en-US" sz="1100" b="1" i="0" u="none" strike="noStrike">
                          <a:solidFill>
                            <a:srgbClr val="1B1C1D"/>
                          </a:solidFill>
                          <a:effectLst/>
                          <a:latin typeface="Google Sans Text"/>
                        </a:rPr>
                        <a:t>Metric</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US" sz="1100" b="1" i="0" u="none" strike="noStrike">
                          <a:solidFill>
                            <a:srgbClr val="1B1C1D"/>
                          </a:solidFill>
                          <a:effectLst/>
                          <a:latin typeface="Google Sans Text"/>
                        </a:rPr>
                        <a:t>Final Value</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US" sz="1100" b="1" i="0" u="none" strike="noStrike">
                          <a:solidFill>
                            <a:srgbClr val="1B1C1D"/>
                          </a:solidFill>
                          <a:effectLst/>
                          <a:latin typeface="Google Sans Text"/>
                        </a:rPr>
                        <a:t>Trend</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US" sz="1100" b="1" i="0" u="none" strike="noStrike">
                          <a:solidFill>
                            <a:srgbClr val="1B1C1D"/>
                          </a:solidFill>
                          <a:effectLst/>
                          <a:latin typeface="Google Sans Text"/>
                        </a:rPr>
                        <a:t>Interpretation for Paper</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095091559"/>
                  </a:ext>
                </a:extLst>
              </a:tr>
              <a:tr h="637810">
                <a:tc>
                  <a:txBody>
                    <a:bodyPr/>
                    <a:lstStyle/>
                    <a:p>
                      <a:pPr rtl="0" fontAlgn="t">
                        <a:buNone/>
                      </a:pPr>
                      <a:r>
                        <a:rPr lang="en-US" sz="1100" b="1" i="0" u="none" strike="noStrike">
                          <a:solidFill>
                            <a:srgbClr val="1B1C1D"/>
                          </a:solidFill>
                          <a:effectLst/>
                          <a:latin typeface="Google Sans Text"/>
                        </a:rPr>
                        <a:t>metrics/mAP50(B)</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~0.92</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Steady Increase</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Excellent localization accuracy when 50% overlap is required. This is your primary "Accuracy" benchmark.</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771724350"/>
                  </a:ext>
                </a:extLst>
              </a:tr>
              <a:tr h="637810">
                <a:tc>
                  <a:txBody>
                    <a:bodyPr/>
                    <a:lstStyle/>
                    <a:p>
                      <a:pPr rtl="0" fontAlgn="t">
                        <a:buNone/>
                      </a:pPr>
                      <a:r>
                        <a:rPr lang="en-US" sz="1100" b="1" i="0" u="none" strike="noStrike">
                          <a:solidFill>
                            <a:srgbClr val="1B1C1D"/>
                          </a:solidFill>
                          <a:effectLst/>
                          <a:latin typeface="Google Sans Text"/>
                        </a:rPr>
                        <a:t>metrics/recall(B)</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~0.85</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Strong Increase</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The model successfully identified ~85% of all ground-truth objects (helmets/heads) in the validation set.</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345818504"/>
                  </a:ext>
                </a:extLst>
              </a:tr>
              <a:tr h="800971">
                <a:tc>
                  <a:txBody>
                    <a:bodyPr/>
                    <a:lstStyle/>
                    <a:p>
                      <a:pPr rtl="0" fontAlgn="t">
                        <a:buNone/>
                      </a:pPr>
                      <a:r>
                        <a:rPr lang="en-US" sz="1100" b="1" i="0" u="none" strike="noStrike">
                          <a:solidFill>
                            <a:srgbClr val="1B1C1D"/>
                          </a:solidFill>
                          <a:effectLst/>
                          <a:latin typeface="Google Sans Text"/>
                        </a:rPr>
                        <a:t>metrics/mAP50-95(B)</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~0.47</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Steady Increase</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Lower value indicates that the model struggles slightly with </a:t>
                      </a:r>
                      <a:r>
                        <a:rPr lang="en-US" sz="1100" b="1" i="0" u="none" strike="noStrike">
                          <a:solidFill>
                            <a:srgbClr val="1B1C1D"/>
                          </a:solidFill>
                          <a:effectLst/>
                          <a:latin typeface="Google Sans Text"/>
                        </a:rPr>
                        <a:t>precise</a:t>
                      </a:r>
                      <a:r>
                        <a:rPr lang="en-US" sz="1100" b="0" i="0" u="none" strike="noStrike">
                          <a:solidFill>
                            <a:srgbClr val="1B1C1D"/>
                          </a:solidFill>
                          <a:effectLst/>
                          <a:latin typeface="Google Sans Text"/>
                        </a:rPr>
                        <a:t> bounding box placement (high IoU requirement).</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401667396"/>
                  </a:ext>
                </a:extLst>
              </a:tr>
              <a:tr h="800971">
                <a:tc>
                  <a:txBody>
                    <a:bodyPr/>
                    <a:lstStyle/>
                    <a:p>
                      <a:pPr rtl="0" fontAlgn="t">
                        <a:buNone/>
                      </a:pPr>
                      <a:r>
                        <a:rPr lang="en-US" sz="1100" b="1" i="0" u="none" strike="noStrike" dirty="0" err="1">
                          <a:solidFill>
                            <a:srgbClr val="1B1C1D"/>
                          </a:solidFill>
                          <a:effectLst/>
                          <a:latin typeface="Google Sans Text"/>
                        </a:rPr>
                        <a:t>val</a:t>
                      </a:r>
                      <a:r>
                        <a:rPr lang="en-US" sz="1100" b="1" i="0" u="none" strike="noStrike" dirty="0">
                          <a:solidFill>
                            <a:srgbClr val="1B1C1D"/>
                          </a:solidFill>
                          <a:effectLst/>
                          <a:latin typeface="Google Sans Text"/>
                        </a:rPr>
                        <a:t>/</a:t>
                      </a:r>
                      <a:r>
                        <a:rPr lang="en-US" sz="1100" b="1" i="0" u="none" strike="noStrike" dirty="0" err="1">
                          <a:solidFill>
                            <a:srgbClr val="1B1C1D"/>
                          </a:solidFill>
                          <a:effectLst/>
                          <a:latin typeface="Google Sans Text"/>
                        </a:rPr>
                        <a:t>box_loss</a:t>
                      </a:r>
                      <a:endParaRPr lang="en-US" dirty="0">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Strong Decrease</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a:solidFill>
                            <a:srgbClr val="1B1C1D"/>
                          </a:solidFill>
                          <a:effectLst/>
                          <a:latin typeface="Google Sans Text"/>
                        </a:rPr>
                        <a:t>Smooth Decrease</a:t>
                      </a:r>
                      <a:endParaRPr lang="en-US">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US" sz="1100" b="0" i="0" u="none" strike="noStrike" dirty="0">
                          <a:solidFill>
                            <a:srgbClr val="1B1C1D"/>
                          </a:solidFill>
                          <a:effectLst/>
                          <a:latin typeface="Google Sans Text"/>
                        </a:rPr>
                        <a:t>The model is getting better at predicting box coordinates. Validation loss tracking training loss means </a:t>
                      </a:r>
                      <a:r>
                        <a:rPr lang="en-US" sz="1100" b="1" i="0" u="none" strike="noStrike" dirty="0">
                          <a:solidFill>
                            <a:srgbClr val="1B1C1D"/>
                          </a:solidFill>
                          <a:effectLst/>
                          <a:latin typeface="Google Sans Text"/>
                        </a:rPr>
                        <a:t>no severe overfitting</a:t>
                      </a:r>
                      <a:r>
                        <a:rPr lang="en-US" sz="1100" b="0" i="0" u="none" strike="noStrike" dirty="0">
                          <a:solidFill>
                            <a:srgbClr val="1B1C1D"/>
                          </a:solidFill>
                          <a:effectLst/>
                          <a:latin typeface="Google Sans Text"/>
                        </a:rPr>
                        <a:t> occurred.</a:t>
                      </a:r>
                      <a:endParaRPr lang="en-US" dirty="0">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3722814079"/>
                  </a:ext>
                </a:extLst>
              </a:tr>
            </a:tbl>
          </a:graphicData>
        </a:graphic>
      </p:graphicFrame>
      <p:sp>
        <p:nvSpPr>
          <p:cNvPr id="3" name="Rectangle 1">
            <a:extLst>
              <a:ext uri="{FF2B5EF4-FFF2-40B4-BE49-F238E27FC236}">
                <a16:creationId xmlns:a16="http://schemas.microsoft.com/office/drawing/2014/main" id="{BA80B261-4B5C-9CA9-FD35-8A31092D9F9A}"/>
              </a:ext>
            </a:extLst>
          </p:cNvPr>
          <p:cNvSpPr>
            <a:spLocks noChangeArrowheads="1"/>
          </p:cNvSpPr>
          <p:nvPr/>
        </p:nvSpPr>
        <p:spPr bwMode="auto">
          <a:xfrm>
            <a:off x="1600200" y="10239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280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5F6B9043-2693-26A6-68BC-2D4A3F840D7A}"/>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092022A3-934B-19E6-D721-CAD7858E771B}"/>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Results</a:t>
            </a:r>
            <a:endParaRPr dirty="0"/>
          </a:p>
        </p:txBody>
      </p:sp>
      <p:sp>
        <p:nvSpPr>
          <p:cNvPr id="3" name="Rectangle 1">
            <a:extLst>
              <a:ext uri="{FF2B5EF4-FFF2-40B4-BE49-F238E27FC236}">
                <a16:creationId xmlns:a16="http://schemas.microsoft.com/office/drawing/2014/main" id="{A8D5CD26-E43D-27C8-6707-6C63D30F9272}"/>
              </a:ext>
            </a:extLst>
          </p:cNvPr>
          <p:cNvSpPr>
            <a:spLocks noChangeArrowheads="1"/>
          </p:cNvSpPr>
          <p:nvPr/>
        </p:nvSpPr>
        <p:spPr bwMode="auto">
          <a:xfrm>
            <a:off x="1600200" y="10239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descr="A group of men wearing safety vests and helmets at a construction site&#10;&#10;AI-generated content may be incorrect.">
            <a:extLst>
              <a:ext uri="{FF2B5EF4-FFF2-40B4-BE49-F238E27FC236}">
                <a16:creationId xmlns:a16="http://schemas.microsoft.com/office/drawing/2014/main" id="{74F092FE-D03E-90E8-F924-FCC812791A27}"/>
              </a:ext>
            </a:extLst>
          </p:cNvPr>
          <p:cNvPicPr>
            <a:picLocks noChangeAspect="1"/>
          </p:cNvPicPr>
          <p:nvPr/>
        </p:nvPicPr>
        <p:blipFill>
          <a:blip r:embed="rId3"/>
          <a:stretch>
            <a:fillRect/>
          </a:stretch>
        </p:blipFill>
        <p:spPr>
          <a:xfrm>
            <a:off x="577515" y="982325"/>
            <a:ext cx="3871851" cy="2903888"/>
          </a:xfrm>
          <a:prstGeom prst="rect">
            <a:avLst/>
          </a:prstGeom>
        </p:spPr>
      </p:pic>
      <p:pic>
        <p:nvPicPr>
          <p:cNvPr id="9" name="Picture 8" descr="A collage of images of people wearing hard hats&#10;&#10;AI-generated content may be incorrect.">
            <a:extLst>
              <a:ext uri="{FF2B5EF4-FFF2-40B4-BE49-F238E27FC236}">
                <a16:creationId xmlns:a16="http://schemas.microsoft.com/office/drawing/2014/main" id="{8F93FBAD-BBB8-44FF-3B11-FFFBD753FB06}"/>
              </a:ext>
            </a:extLst>
          </p:cNvPr>
          <p:cNvPicPr>
            <a:picLocks noChangeAspect="1"/>
          </p:cNvPicPr>
          <p:nvPr/>
        </p:nvPicPr>
        <p:blipFill>
          <a:blip r:embed="rId4"/>
          <a:stretch>
            <a:fillRect/>
          </a:stretch>
        </p:blipFill>
        <p:spPr>
          <a:xfrm>
            <a:off x="4694636" y="982325"/>
            <a:ext cx="3729364" cy="3548974"/>
          </a:xfrm>
          <a:prstGeom prst="rect">
            <a:avLst/>
          </a:prstGeom>
        </p:spPr>
      </p:pic>
    </p:spTree>
    <p:extLst>
      <p:ext uri="{BB962C8B-B14F-4D97-AF65-F5344CB8AC3E}">
        <p14:creationId xmlns:p14="http://schemas.microsoft.com/office/powerpoint/2010/main" val="303834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0">
          <a:extLst>
            <a:ext uri="{FF2B5EF4-FFF2-40B4-BE49-F238E27FC236}">
              <a16:creationId xmlns:a16="http://schemas.microsoft.com/office/drawing/2014/main" id="{F21D12D1-0BA4-13E6-1470-D12933B3C884}"/>
            </a:ext>
          </a:extLst>
        </p:cNvPr>
        <p:cNvGrpSpPr/>
        <p:nvPr/>
      </p:nvGrpSpPr>
      <p:grpSpPr>
        <a:xfrm>
          <a:off x="0" y="0"/>
          <a:ext cx="0" cy="0"/>
          <a:chOff x="0" y="0"/>
          <a:chExt cx="0" cy="0"/>
        </a:xfrm>
      </p:grpSpPr>
      <p:sp>
        <p:nvSpPr>
          <p:cNvPr id="571" name="Google Shape;571;p42">
            <a:extLst>
              <a:ext uri="{FF2B5EF4-FFF2-40B4-BE49-F238E27FC236}">
                <a16:creationId xmlns:a16="http://schemas.microsoft.com/office/drawing/2014/main" id="{382AA66E-3974-4BB6-C796-5340AA110F8F}"/>
              </a:ext>
            </a:extLst>
          </p:cNvPr>
          <p:cNvSpPr txBox="1">
            <a:spLocks noGrp="1"/>
          </p:cNvSpPr>
          <p:nvPr>
            <p:ph type="title"/>
          </p:nvPr>
        </p:nvSpPr>
        <p:spPr>
          <a:xfrm>
            <a:off x="720000" y="368825"/>
            <a:ext cx="7704000" cy="6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Future Work </a:t>
            </a:r>
            <a:endParaRPr dirty="0"/>
          </a:p>
        </p:txBody>
      </p:sp>
      <p:sp>
        <p:nvSpPr>
          <p:cNvPr id="579" name="Google Shape;579;p42">
            <a:extLst>
              <a:ext uri="{FF2B5EF4-FFF2-40B4-BE49-F238E27FC236}">
                <a16:creationId xmlns:a16="http://schemas.microsoft.com/office/drawing/2014/main" id="{02CE7316-44E7-6203-9BBD-6B90DB82085F}"/>
              </a:ext>
            </a:extLst>
          </p:cNvPr>
          <p:cNvSpPr txBox="1"/>
          <p:nvPr/>
        </p:nvSpPr>
        <p:spPr>
          <a:xfrm>
            <a:off x="565484" y="1951295"/>
            <a:ext cx="8061158" cy="2031158"/>
          </a:xfrm>
          <a:prstGeom prst="rect">
            <a:avLst/>
          </a:prstGeom>
          <a:noFill/>
          <a:ln>
            <a:noFill/>
          </a:ln>
        </p:spPr>
        <p:txBody>
          <a:bodyPr spcFirstLastPara="1" wrap="square" lIns="91425" tIns="91425" rIns="91425" bIns="91425" anchor="b" anchorCtr="0">
            <a:noAutofit/>
          </a:bodyPr>
          <a:lstStyle/>
          <a:p>
            <a:pPr marL="285750" lvl="0" indent="-285750" rtl="0">
              <a:spcBef>
                <a:spcPts val="0"/>
              </a:spcBef>
              <a:spcAft>
                <a:spcPts val="0"/>
              </a:spcAft>
              <a:buFont typeface="Courier New" panose="02070309020205020404" pitchFamily="49" charset="0"/>
              <a:buChar char="o"/>
            </a:pPr>
            <a:r>
              <a:rPr lang="en" sz="1800" b="1" dirty="0">
                <a:solidFill>
                  <a:schemeClr val="dk1"/>
                </a:solidFill>
                <a:latin typeface="El Messiri"/>
                <a:ea typeface="El Messiri"/>
                <a:cs typeface="El Messiri"/>
                <a:sym typeface="El Messiri"/>
              </a:rPr>
              <a:t>We will try to use another labeled dataset which wasn’t seen by the model in the training phase and evaluate the model performance</a:t>
            </a:r>
          </a:p>
          <a:p>
            <a:pPr marL="285750" lvl="0" indent="-285750" rtl="0">
              <a:spcBef>
                <a:spcPts val="0"/>
              </a:spcBef>
              <a:spcAft>
                <a:spcPts val="0"/>
              </a:spcAft>
              <a:buFont typeface="Courier New" panose="02070309020205020404" pitchFamily="49" charset="0"/>
              <a:buChar char="o"/>
            </a:pPr>
            <a:endParaRPr lang="en" sz="1800" b="1" dirty="0">
              <a:solidFill>
                <a:schemeClr val="dk1"/>
              </a:solidFill>
              <a:latin typeface="El Messiri"/>
              <a:ea typeface="El Messiri"/>
              <a:cs typeface="El Messiri"/>
              <a:sym typeface="El Messiri"/>
            </a:endParaRPr>
          </a:p>
          <a:p>
            <a:pPr lvl="0" rtl="0">
              <a:spcBef>
                <a:spcPts val="0"/>
              </a:spcBef>
              <a:spcAft>
                <a:spcPts val="0"/>
              </a:spcAft>
            </a:pPr>
            <a:endParaRPr lang="en" sz="1800" b="1" dirty="0">
              <a:solidFill>
                <a:schemeClr val="dk1"/>
              </a:solidFill>
              <a:latin typeface="El Messiri"/>
              <a:ea typeface="El Messiri"/>
              <a:cs typeface="El Messiri"/>
              <a:sym typeface="El Messiri"/>
            </a:endParaRPr>
          </a:p>
          <a:p>
            <a:pPr marL="285750" lvl="0" indent="-285750" rtl="0">
              <a:spcBef>
                <a:spcPts val="0"/>
              </a:spcBef>
              <a:spcAft>
                <a:spcPts val="0"/>
              </a:spcAft>
              <a:buFont typeface="Courier New" panose="02070309020205020404" pitchFamily="49" charset="0"/>
              <a:buChar char="o"/>
            </a:pPr>
            <a:endParaRPr lang="en" sz="1800" b="1" dirty="0">
              <a:solidFill>
                <a:schemeClr val="dk1"/>
              </a:solidFill>
              <a:latin typeface="El Messiri"/>
              <a:ea typeface="El Messiri"/>
              <a:cs typeface="El Messiri"/>
              <a:sym typeface="El Messiri"/>
            </a:endParaRPr>
          </a:p>
          <a:p>
            <a:pPr marL="285750" lvl="0" indent="-285750" rtl="0">
              <a:spcBef>
                <a:spcPts val="0"/>
              </a:spcBef>
              <a:spcAft>
                <a:spcPts val="0"/>
              </a:spcAft>
              <a:buFont typeface="Courier New" panose="02070309020205020404" pitchFamily="49" charset="0"/>
              <a:buChar char="o"/>
            </a:pPr>
            <a:endParaRPr lang="en" sz="1800" b="1" dirty="0">
              <a:solidFill>
                <a:schemeClr val="dk1"/>
              </a:solidFill>
              <a:latin typeface="El Messiri"/>
              <a:ea typeface="El Messiri"/>
              <a:cs typeface="El Messiri"/>
              <a:sym typeface="El Messiri"/>
            </a:endParaRPr>
          </a:p>
          <a:p>
            <a:pPr marL="285750" lvl="0" indent="-285750" rtl="0">
              <a:spcBef>
                <a:spcPts val="0"/>
              </a:spcBef>
              <a:spcAft>
                <a:spcPts val="0"/>
              </a:spcAft>
              <a:buFont typeface="Courier New" panose="02070309020205020404" pitchFamily="49" charset="0"/>
              <a:buChar char="o"/>
            </a:pPr>
            <a:r>
              <a:rPr lang="en-US" sz="1800" b="1" dirty="0">
                <a:solidFill>
                  <a:schemeClr val="dk1"/>
                </a:solidFill>
                <a:latin typeface="El Messiri"/>
                <a:ea typeface="El Messiri"/>
                <a:cs typeface="El Messiri"/>
                <a:sym typeface="El Messiri"/>
              </a:rPr>
              <a:t>Try to implement the algorithm in real time as in surveillance systems to monitor any violations to the safety procedure on-site.</a:t>
            </a:r>
            <a:endParaRPr sz="1800" b="1" dirty="0">
              <a:solidFill>
                <a:schemeClr val="dk1"/>
              </a:solidFill>
              <a:latin typeface="El Messiri"/>
              <a:ea typeface="El Messiri"/>
              <a:cs typeface="El Messiri"/>
              <a:sym typeface="El Messiri"/>
            </a:endParaRPr>
          </a:p>
        </p:txBody>
      </p:sp>
    </p:spTree>
    <p:extLst>
      <p:ext uri="{BB962C8B-B14F-4D97-AF65-F5344CB8AC3E}">
        <p14:creationId xmlns:p14="http://schemas.microsoft.com/office/powerpoint/2010/main" val="226787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withEffect">
                                  <p:stCondLst>
                                    <p:cond delay="0"/>
                                  </p:stCondLst>
                                  <p:iterate type="lt">
                                    <p:tmPct val="10000"/>
                                  </p:iterate>
                                  <p:childTnLst>
                                    <p:animScale>
                                      <p:cBhvr>
                                        <p:cTn id="6" dur="250" autoRev="1" fill="hold">
                                          <p:stCondLst>
                                            <p:cond delay="0"/>
                                          </p:stCondLst>
                                        </p:cTn>
                                        <p:tgtEl>
                                          <p:spTgt spid="571"/>
                                        </p:tgtEl>
                                      </p:cBhvr>
                                      <p:to x="80000" y="100000"/>
                                    </p:animScale>
                                    <p:anim by="(#ppt_w*0.10)" calcmode="lin" valueType="num">
                                      <p:cBhvr>
                                        <p:cTn id="7" dur="250" autoRev="1" fill="hold">
                                          <p:stCondLst>
                                            <p:cond delay="0"/>
                                          </p:stCondLst>
                                        </p:cTn>
                                        <p:tgtEl>
                                          <p:spTgt spid="571"/>
                                        </p:tgtEl>
                                        <p:attrNameLst>
                                          <p:attrName>ppt_x</p:attrName>
                                        </p:attrNameLst>
                                      </p:cBhvr>
                                    </p:anim>
                                    <p:anim by="(-#ppt_w*0.10)" calcmode="lin" valueType="num">
                                      <p:cBhvr>
                                        <p:cTn id="8" dur="250" autoRev="1" fill="hold">
                                          <p:stCondLst>
                                            <p:cond delay="0"/>
                                          </p:stCondLst>
                                        </p:cTn>
                                        <p:tgtEl>
                                          <p:spTgt spid="571"/>
                                        </p:tgtEl>
                                        <p:attrNameLst>
                                          <p:attrName>ppt_y</p:attrName>
                                        </p:attrNameLst>
                                      </p:cBhvr>
                                    </p:anim>
                                    <p:animRot by="-480000">
                                      <p:cBhvr>
                                        <p:cTn id="9" dur="250" autoRev="1" fill="hold">
                                          <p:stCondLst>
                                            <p:cond delay="0"/>
                                          </p:stCondLst>
                                        </p:cTn>
                                        <p:tgtEl>
                                          <p:spTgt spid="571"/>
                                        </p:tgtEl>
                                        <p:attrNameLst>
                                          <p:attrName>r</p:attrName>
                                        </p:attrNameLst>
                                      </p:cBhvr>
                                    </p:animRot>
                                  </p:childTnLst>
                                </p:cTn>
                              </p:par>
                              <p:par>
                                <p:cTn id="10" presetID="2" presetClass="entr" presetSubtype="8" fill="hold" grpId="0" nodeType="withEffect">
                                  <p:stCondLst>
                                    <p:cond delay="200"/>
                                  </p:stCondLst>
                                  <p:childTnLst>
                                    <p:set>
                                      <p:cBhvr>
                                        <p:cTn id="11" dur="1" fill="hold">
                                          <p:stCondLst>
                                            <p:cond delay="0"/>
                                          </p:stCondLst>
                                        </p:cTn>
                                        <p:tgtEl>
                                          <p:spTgt spid="579"/>
                                        </p:tgtEl>
                                        <p:attrNameLst>
                                          <p:attrName>style.visibility</p:attrName>
                                        </p:attrNameLst>
                                      </p:cBhvr>
                                      <p:to>
                                        <p:strVal val="visible"/>
                                      </p:to>
                                    </p:set>
                                    <p:anim calcmode="lin" valueType="num">
                                      <p:cBhvr additive="base">
                                        <p:cTn id="12" dur="500" fill="hold"/>
                                        <p:tgtEl>
                                          <p:spTgt spid="579"/>
                                        </p:tgtEl>
                                        <p:attrNameLst>
                                          <p:attrName>ppt_x</p:attrName>
                                        </p:attrNameLst>
                                      </p:cBhvr>
                                      <p:tavLst>
                                        <p:tav tm="0">
                                          <p:val>
                                            <p:strVal val="0-#ppt_w/2"/>
                                          </p:val>
                                        </p:tav>
                                        <p:tav tm="100000">
                                          <p:val>
                                            <p:strVal val="#ppt_x"/>
                                          </p:val>
                                        </p:tav>
                                      </p:tavLst>
                                    </p:anim>
                                    <p:anim calcmode="lin" valueType="num">
                                      <p:cBhvr additive="base">
                                        <p:cTn id="13" dur="500" fill="hold"/>
                                        <p:tgtEl>
                                          <p:spTgt spid="5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 grpId="0"/>
      <p:bldP spid="57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7" name="Google Shape;217;p29"/>
          <p:cNvSpPr txBox="1">
            <a:spLocks noGrp="1"/>
          </p:cNvSpPr>
          <p:nvPr>
            <p:ph type="title"/>
          </p:nvPr>
        </p:nvSpPr>
        <p:spPr>
          <a:xfrm>
            <a:off x="907528" y="1283425"/>
            <a:ext cx="4003368" cy="156522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5000" dirty="0"/>
              <a:t>Thank You!</a:t>
            </a:r>
            <a:endParaRPr sz="5000" dirty="0"/>
          </a:p>
        </p:txBody>
      </p:sp>
      <p:grpSp>
        <p:nvGrpSpPr>
          <p:cNvPr id="220" name="Google Shape;220;p29"/>
          <p:cNvGrpSpPr/>
          <p:nvPr/>
        </p:nvGrpSpPr>
        <p:grpSpPr>
          <a:xfrm>
            <a:off x="5874049" y="0"/>
            <a:ext cx="3478763" cy="5143500"/>
            <a:chOff x="5874049" y="0"/>
            <a:chExt cx="3478763" cy="5143500"/>
          </a:xfrm>
        </p:grpSpPr>
        <p:pic>
          <p:nvPicPr>
            <p:cNvPr id="221" name="Google Shape;221;p29" title="Ara 8@150x.png"/>
            <p:cNvPicPr preferRelativeResize="0"/>
            <p:nvPr/>
          </p:nvPicPr>
          <p:blipFill>
            <a:blip r:embed="rId3">
              <a:alphaModFix/>
            </a:blip>
            <a:stretch>
              <a:fillRect/>
            </a:stretch>
          </p:blipFill>
          <p:spPr>
            <a:xfrm>
              <a:off x="7156924" y="3273704"/>
              <a:ext cx="1408400" cy="1408379"/>
            </a:xfrm>
            <a:prstGeom prst="rect">
              <a:avLst/>
            </a:prstGeom>
            <a:noFill/>
            <a:ln>
              <a:noFill/>
            </a:ln>
          </p:spPr>
        </p:pic>
        <p:pic>
          <p:nvPicPr>
            <p:cNvPr id="222" name="Google Shape;222;p29" title="Ara 3@150x.png"/>
            <p:cNvPicPr preferRelativeResize="0"/>
            <p:nvPr/>
          </p:nvPicPr>
          <p:blipFill rotWithShape="1">
            <a:blip r:embed="rId4">
              <a:alphaModFix/>
            </a:blip>
            <a:srcRect r="49997" b="58326"/>
            <a:stretch/>
          </p:blipFill>
          <p:spPr>
            <a:xfrm>
              <a:off x="8439800" y="4556575"/>
              <a:ext cx="704225" cy="586925"/>
            </a:xfrm>
            <a:prstGeom prst="rect">
              <a:avLst/>
            </a:prstGeom>
            <a:noFill/>
            <a:ln>
              <a:noFill/>
            </a:ln>
          </p:spPr>
        </p:pic>
        <p:pic>
          <p:nvPicPr>
            <p:cNvPr id="223" name="Google Shape;223;p29" title="Ara 6@150x.png"/>
            <p:cNvPicPr preferRelativeResize="0"/>
            <p:nvPr/>
          </p:nvPicPr>
          <p:blipFill>
            <a:blip r:embed="rId5">
              <a:alphaModFix/>
            </a:blip>
            <a:stretch>
              <a:fillRect/>
            </a:stretch>
          </p:blipFill>
          <p:spPr>
            <a:xfrm>
              <a:off x="5874049" y="1990813"/>
              <a:ext cx="1408400" cy="1408400"/>
            </a:xfrm>
            <a:prstGeom prst="rect">
              <a:avLst/>
            </a:prstGeom>
            <a:noFill/>
            <a:ln>
              <a:noFill/>
            </a:ln>
          </p:spPr>
        </p:pic>
        <p:pic>
          <p:nvPicPr>
            <p:cNvPr id="224" name="Google Shape;224;p29" title="Ara 2@150x.png"/>
            <p:cNvPicPr preferRelativeResize="0"/>
            <p:nvPr/>
          </p:nvPicPr>
          <p:blipFill>
            <a:blip r:embed="rId6">
              <a:alphaModFix/>
            </a:blip>
            <a:stretch>
              <a:fillRect/>
            </a:stretch>
          </p:blipFill>
          <p:spPr>
            <a:xfrm>
              <a:off x="7156918" y="705143"/>
              <a:ext cx="1408400" cy="1407607"/>
            </a:xfrm>
            <a:prstGeom prst="rect">
              <a:avLst/>
            </a:prstGeom>
            <a:noFill/>
            <a:ln>
              <a:noFill/>
            </a:ln>
          </p:spPr>
        </p:pic>
        <p:pic>
          <p:nvPicPr>
            <p:cNvPr id="225" name="Google Shape;225;p29"/>
            <p:cNvPicPr preferRelativeResize="0"/>
            <p:nvPr/>
          </p:nvPicPr>
          <p:blipFill rotWithShape="1">
            <a:blip r:embed="rId3">
              <a:alphaModFix/>
            </a:blip>
            <a:srcRect t="41247" r="49997" b="29"/>
            <a:stretch/>
          </p:blipFill>
          <p:spPr>
            <a:xfrm>
              <a:off x="8439775" y="0"/>
              <a:ext cx="704225" cy="827075"/>
            </a:xfrm>
            <a:prstGeom prst="rect">
              <a:avLst/>
            </a:prstGeom>
            <a:noFill/>
            <a:ln>
              <a:noFill/>
            </a:ln>
          </p:spPr>
        </p:pic>
        <p:pic>
          <p:nvPicPr>
            <p:cNvPr id="226" name="Google Shape;226;p29" title="Ara 11 @150x.png"/>
            <p:cNvPicPr preferRelativeResize="0"/>
            <p:nvPr/>
          </p:nvPicPr>
          <p:blipFill rotWithShape="1">
            <a:blip r:embed="rId7">
              <a:alphaModFix/>
            </a:blip>
            <a:srcRect r="49997"/>
            <a:stretch/>
          </p:blipFill>
          <p:spPr>
            <a:xfrm>
              <a:off x="8439799" y="1987625"/>
              <a:ext cx="704225" cy="1408400"/>
            </a:xfrm>
            <a:prstGeom prst="rect">
              <a:avLst/>
            </a:prstGeom>
            <a:noFill/>
            <a:ln>
              <a:noFill/>
            </a:ln>
          </p:spPr>
        </p:pic>
        <p:sp>
          <p:nvSpPr>
            <p:cNvPr id="227" name="Google Shape;227;p29"/>
            <p:cNvSpPr/>
            <p:nvPr/>
          </p:nvSpPr>
          <p:spPr>
            <a:xfrm>
              <a:off x="8935187" y="1198919"/>
              <a:ext cx="417625" cy="416875"/>
            </a:xfrm>
            <a:custGeom>
              <a:avLst/>
              <a:gdLst/>
              <a:ahLst/>
              <a:cxnLst/>
              <a:rect l="l" t="t" r="r" b="b"/>
              <a:pathLst>
                <a:path w="586" h="585" extrusionOk="0">
                  <a:moveTo>
                    <a:pt x="500" y="378"/>
                  </a:moveTo>
                  <a:lnTo>
                    <a:pt x="586" y="292"/>
                  </a:lnTo>
                  <a:lnTo>
                    <a:pt x="500" y="207"/>
                  </a:lnTo>
                  <a:lnTo>
                    <a:pt x="500" y="85"/>
                  </a:lnTo>
                  <a:lnTo>
                    <a:pt x="379" y="85"/>
                  </a:lnTo>
                  <a:lnTo>
                    <a:pt x="293" y="0"/>
                  </a:lnTo>
                  <a:lnTo>
                    <a:pt x="207" y="85"/>
                  </a:lnTo>
                  <a:lnTo>
                    <a:pt x="86" y="85"/>
                  </a:lnTo>
                  <a:lnTo>
                    <a:pt x="86" y="207"/>
                  </a:lnTo>
                  <a:lnTo>
                    <a:pt x="0" y="292"/>
                  </a:lnTo>
                  <a:lnTo>
                    <a:pt x="86" y="378"/>
                  </a:lnTo>
                  <a:lnTo>
                    <a:pt x="86" y="499"/>
                  </a:lnTo>
                  <a:lnTo>
                    <a:pt x="207" y="499"/>
                  </a:lnTo>
                  <a:lnTo>
                    <a:pt x="293" y="585"/>
                  </a:lnTo>
                  <a:lnTo>
                    <a:pt x="379" y="499"/>
                  </a:lnTo>
                  <a:lnTo>
                    <a:pt x="500" y="499"/>
                  </a:lnTo>
                  <a:lnTo>
                    <a:pt x="500" y="37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8" name="Google Shape;228;p29"/>
            <p:cNvSpPr/>
            <p:nvPr/>
          </p:nvSpPr>
          <p:spPr>
            <a:xfrm>
              <a:off x="8935187" y="3802781"/>
              <a:ext cx="417625" cy="416875"/>
            </a:xfrm>
            <a:custGeom>
              <a:avLst/>
              <a:gdLst/>
              <a:ahLst/>
              <a:cxnLst/>
              <a:rect l="l" t="t" r="r" b="b"/>
              <a:pathLst>
                <a:path w="586" h="585" extrusionOk="0">
                  <a:moveTo>
                    <a:pt x="500" y="378"/>
                  </a:moveTo>
                  <a:lnTo>
                    <a:pt x="586" y="292"/>
                  </a:lnTo>
                  <a:lnTo>
                    <a:pt x="500" y="207"/>
                  </a:lnTo>
                  <a:lnTo>
                    <a:pt x="500" y="85"/>
                  </a:lnTo>
                  <a:lnTo>
                    <a:pt x="379" y="85"/>
                  </a:lnTo>
                  <a:lnTo>
                    <a:pt x="293" y="0"/>
                  </a:lnTo>
                  <a:lnTo>
                    <a:pt x="207" y="85"/>
                  </a:lnTo>
                  <a:lnTo>
                    <a:pt x="86" y="85"/>
                  </a:lnTo>
                  <a:lnTo>
                    <a:pt x="86" y="207"/>
                  </a:lnTo>
                  <a:lnTo>
                    <a:pt x="0" y="292"/>
                  </a:lnTo>
                  <a:lnTo>
                    <a:pt x="86" y="378"/>
                  </a:lnTo>
                  <a:lnTo>
                    <a:pt x="86" y="499"/>
                  </a:lnTo>
                  <a:lnTo>
                    <a:pt x="207" y="499"/>
                  </a:lnTo>
                  <a:lnTo>
                    <a:pt x="293" y="585"/>
                  </a:lnTo>
                  <a:lnTo>
                    <a:pt x="379" y="499"/>
                  </a:lnTo>
                  <a:lnTo>
                    <a:pt x="500" y="499"/>
                  </a:lnTo>
                  <a:lnTo>
                    <a:pt x="500" y="37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9" name="Google Shape;229;p29"/>
            <p:cNvSpPr/>
            <p:nvPr/>
          </p:nvSpPr>
          <p:spPr>
            <a:xfrm>
              <a:off x="7652312" y="2484806"/>
              <a:ext cx="417625" cy="416875"/>
            </a:xfrm>
            <a:custGeom>
              <a:avLst/>
              <a:gdLst/>
              <a:ahLst/>
              <a:cxnLst/>
              <a:rect l="l" t="t" r="r" b="b"/>
              <a:pathLst>
                <a:path w="586" h="585" extrusionOk="0">
                  <a:moveTo>
                    <a:pt x="500" y="378"/>
                  </a:moveTo>
                  <a:lnTo>
                    <a:pt x="586" y="292"/>
                  </a:lnTo>
                  <a:lnTo>
                    <a:pt x="500" y="207"/>
                  </a:lnTo>
                  <a:lnTo>
                    <a:pt x="500" y="85"/>
                  </a:lnTo>
                  <a:lnTo>
                    <a:pt x="379" y="85"/>
                  </a:lnTo>
                  <a:lnTo>
                    <a:pt x="293" y="0"/>
                  </a:lnTo>
                  <a:lnTo>
                    <a:pt x="207" y="85"/>
                  </a:lnTo>
                  <a:lnTo>
                    <a:pt x="86" y="85"/>
                  </a:lnTo>
                  <a:lnTo>
                    <a:pt x="86" y="207"/>
                  </a:lnTo>
                  <a:lnTo>
                    <a:pt x="0" y="292"/>
                  </a:lnTo>
                  <a:lnTo>
                    <a:pt x="86" y="378"/>
                  </a:lnTo>
                  <a:lnTo>
                    <a:pt x="86" y="499"/>
                  </a:lnTo>
                  <a:lnTo>
                    <a:pt x="207" y="499"/>
                  </a:lnTo>
                  <a:lnTo>
                    <a:pt x="293" y="585"/>
                  </a:lnTo>
                  <a:lnTo>
                    <a:pt x="379" y="499"/>
                  </a:lnTo>
                  <a:lnTo>
                    <a:pt x="500" y="499"/>
                  </a:lnTo>
                  <a:lnTo>
                    <a:pt x="500" y="378"/>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Arabic Culture Lesson by Slidesgo">
  <a:themeElements>
    <a:clrScheme name="Simple Light">
      <a:dk1>
        <a:srgbClr val="28324D"/>
      </a:dk1>
      <a:lt1>
        <a:srgbClr val="FFFFFF"/>
      </a:lt1>
      <a:dk2>
        <a:srgbClr val="FFF8ED"/>
      </a:dk2>
      <a:lt2>
        <a:srgbClr val="EDDAD1"/>
      </a:lt2>
      <a:accent1>
        <a:srgbClr val="E0A790"/>
      </a:accent1>
      <a:accent2>
        <a:srgbClr val="FFB65F"/>
      </a:accent2>
      <a:accent3>
        <a:srgbClr val="94C0D6"/>
      </a:accent3>
      <a:accent4>
        <a:srgbClr val="5CA6A5"/>
      </a:accent4>
      <a:accent5>
        <a:srgbClr val="4D7289"/>
      </a:accent5>
      <a:accent6>
        <a:srgbClr val="FFFFFF"/>
      </a:accent6>
      <a:hlink>
        <a:srgbClr val="2832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7222</TotalTime>
  <Words>451</Words>
  <Application>Microsoft Office PowerPoint</Application>
  <PresentationFormat>On-screen Show (16:9)</PresentationFormat>
  <Paragraphs>72</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DM Serif Display</vt:lpstr>
      <vt:lpstr>Google Sans Text</vt:lpstr>
      <vt:lpstr>Courier New</vt:lpstr>
      <vt:lpstr>Assistant</vt:lpstr>
      <vt:lpstr>El Messiri</vt:lpstr>
      <vt:lpstr>Arabic Culture Lesson by Slidesgo</vt:lpstr>
      <vt:lpstr>PowerPoint Presentation</vt:lpstr>
      <vt:lpstr>Agenda</vt:lpstr>
      <vt:lpstr>Introduction</vt:lpstr>
      <vt:lpstr>Problem Statement</vt:lpstr>
      <vt:lpstr>Dataset overview</vt:lpstr>
      <vt:lpstr>Model Architecture</vt:lpstr>
      <vt:lpstr>Results</vt:lpstr>
      <vt:lpstr>Results</vt:lpstr>
      <vt:lpstr>Results</vt:lpstr>
      <vt:lpstr>Future Work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Fares El-Mallah</dc:creator>
  <cp:lastModifiedBy>Omar Geasa</cp:lastModifiedBy>
  <cp:revision>14</cp:revision>
  <dcterms:modified xsi:type="dcterms:W3CDTF">2025-11-20T08:58:03Z</dcterms:modified>
</cp:coreProperties>
</file>